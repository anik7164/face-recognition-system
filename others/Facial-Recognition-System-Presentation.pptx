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Cardo Bold" panose="020B0604020202020204" charset="-79"/>
      <p:regular r:id="rId20"/>
    </p:embeddedFont>
    <p:embeddedFont>
      <p:font typeface="Poppins" panose="00000500000000000000" pitchFamily="2" charset="0"/>
      <p:regular r:id="rId21"/>
      <p:bold r:id="rId22"/>
      <p:italic r:id="rId23"/>
      <p:boldItalic r:id="rId24"/>
    </p:embeddedFont>
    <p:embeddedFont>
      <p:font typeface="Poppins Bold" panose="00000800000000000000" charset="0"/>
      <p:regular r:id="rId25"/>
    </p:embeddedFont>
    <p:embeddedFont>
      <p:font typeface="Raleway Bold" panose="020B0604020202020204" charset="0"/>
      <p:regular r:id="rId26"/>
    </p:embeddedFont>
    <p:embeddedFont>
      <p:font typeface="Roboto" panose="02000000000000000000" pitchFamily="2" charset="0"/>
      <p:regular r:id="rId27"/>
    </p:embeddedFont>
    <p:embeddedFont>
      <p:font typeface="Roboto Bold" panose="020B0604020202020204" charset="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2" d="100"/>
          <a:sy n="72" d="100"/>
        </p:scale>
        <p:origin x="600" y="1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drive.google.com/file/d/1EB9ScRsX5_gHHN53N_BQdS9y_u5XJSwT/view?usp=sharing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04445" y="-183528"/>
            <a:ext cx="20014291" cy="11007860"/>
          </a:xfrm>
          <a:custGeom>
            <a:avLst/>
            <a:gdLst/>
            <a:ahLst/>
            <a:cxnLst/>
            <a:rect l="l" t="t" r="r" b="b"/>
            <a:pathLst>
              <a:path w="20014291" h="11007860">
                <a:moveTo>
                  <a:pt x="0" y="0"/>
                </a:moveTo>
                <a:lnTo>
                  <a:pt x="20014291" y="0"/>
                </a:lnTo>
                <a:lnTo>
                  <a:pt x="20014291" y="11007861"/>
                </a:lnTo>
                <a:lnTo>
                  <a:pt x="0" y="110078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713" r="-571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47690" y="-148879"/>
            <a:ext cx="9163910" cy="10287000"/>
            <a:chOff x="0" y="0"/>
            <a:chExt cx="2413540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13540" cy="2709333"/>
            </a:xfrm>
            <a:custGeom>
              <a:avLst/>
              <a:gdLst/>
              <a:ahLst/>
              <a:cxnLst/>
              <a:rect l="l" t="t" r="r" b="b"/>
              <a:pathLst>
                <a:path w="2413540" h="2709333">
                  <a:moveTo>
                    <a:pt x="0" y="0"/>
                  </a:moveTo>
                  <a:lnTo>
                    <a:pt x="2413540" y="0"/>
                  </a:lnTo>
                  <a:lnTo>
                    <a:pt x="2413540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C0C0C">
                    <a:alpha val="100000"/>
                  </a:srgbClr>
                </a:gs>
                <a:gs pos="100000">
                  <a:srgbClr val="0C0C0C">
                    <a:alpha val="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413540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38065" y="1344252"/>
            <a:ext cx="9114518" cy="21864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6600" b="1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FACIAL EMOTION RECOGNITION SYSTEM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06761" y="4281045"/>
            <a:ext cx="8178156" cy="1182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7"/>
              </a:lnSpc>
            </a:pPr>
            <a:r>
              <a:rPr lang="en-US" sz="2327" b="1">
                <a:solidFill>
                  <a:srgbClr val="FFFFFF"/>
                </a:solidFill>
                <a:latin typeface="Cardo Bold"/>
                <a:ea typeface="Cardo Bold"/>
                <a:cs typeface="Cardo Bold"/>
                <a:sym typeface="Cardo Bold"/>
              </a:rPr>
              <a:t>ANIK MONDAL</a:t>
            </a:r>
          </a:p>
          <a:p>
            <a:pPr algn="l">
              <a:lnSpc>
                <a:spcPts val="2327"/>
              </a:lnSpc>
            </a:pPr>
            <a:endParaRPr lang="en-US" sz="2327" b="1">
              <a:solidFill>
                <a:srgbClr val="FFFFFF"/>
              </a:solidFill>
              <a:latin typeface="Cardo Bold"/>
              <a:ea typeface="Cardo Bold"/>
              <a:cs typeface="Cardo Bold"/>
              <a:sym typeface="Cardo Bold"/>
            </a:endParaRPr>
          </a:p>
          <a:p>
            <a:pPr algn="l">
              <a:lnSpc>
                <a:spcPts val="2327"/>
              </a:lnSpc>
            </a:pPr>
            <a:r>
              <a:rPr lang="en-US" sz="2327" b="1">
                <a:solidFill>
                  <a:srgbClr val="FFFFFF"/>
                </a:solidFill>
                <a:latin typeface="Cardo Bold"/>
                <a:ea typeface="Cardo Bold"/>
                <a:cs typeface="Cardo Bold"/>
                <a:sym typeface="Cardo Bold"/>
              </a:rPr>
              <a:t>   2211301042</a:t>
            </a:r>
          </a:p>
          <a:p>
            <a:pPr algn="l">
              <a:lnSpc>
                <a:spcPts val="2327"/>
              </a:lnSpc>
              <a:spcBef>
                <a:spcPct val="0"/>
              </a:spcBef>
            </a:pPr>
            <a:endParaRPr lang="en-US" sz="2327" b="1">
              <a:solidFill>
                <a:srgbClr val="FFFFFF"/>
              </a:solidFill>
              <a:latin typeface="Cardo Bold"/>
              <a:ea typeface="Cardo Bold"/>
              <a:cs typeface="Cardo Bold"/>
              <a:sym typeface="Cardo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06761" y="5391081"/>
            <a:ext cx="8178156" cy="1474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7"/>
              </a:lnSpc>
            </a:pPr>
            <a:r>
              <a:rPr lang="en-US" sz="2327" b="1">
                <a:solidFill>
                  <a:srgbClr val="FFFFFF"/>
                </a:solidFill>
                <a:latin typeface="Cardo Bold"/>
                <a:ea typeface="Cardo Bold"/>
                <a:cs typeface="Cardo Bold"/>
                <a:sym typeface="Cardo Bold"/>
              </a:rPr>
              <a:t>SHAHIDA AKTER</a:t>
            </a:r>
          </a:p>
          <a:p>
            <a:pPr algn="l">
              <a:lnSpc>
                <a:spcPts val="2327"/>
              </a:lnSpc>
            </a:pPr>
            <a:endParaRPr lang="en-US" sz="2327" b="1">
              <a:solidFill>
                <a:srgbClr val="FFFFFF"/>
              </a:solidFill>
              <a:latin typeface="Cardo Bold"/>
              <a:ea typeface="Cardo Bold"/>
              <a:cs typeface="Cardo Bold"/>
              <a:sym typeface="Cardo Bold"/>
            </a:endParaRPr>
          </a:p>
          <a:p>
            <a:pPr algn="l">
              <a:lnSpc>
                <a:spcPts val="2327"/>
              </a:lnSpc>
            </a:pPr>
            <a:r>
              <a:rPr lang="en-US" sz="2327" b="1">
                <a:solidFill>
                  <a:srgbClr val="FFFFFF"/>
                </a:solidFill>
                <a:latin typeface="Cardo Bold"/>
                <a:ea typeface="Cardo Bold"/>
                <a:cs typeface="Cardo Bold"/>
                <a:sym typeface="Cardo Bold"/>
              </a:rPr>
              <a:t>    2222446642</a:t>
            </a:r>
          </a:p>
          <a:p>
            <a:pPr algn="l">
              <a:lnSpc>
                <a:spcPts val="2327"/>
              </a:lnSpc>
            </a:pPr>
            <a:endParaRPr lang="en-US" sz="2327" b="1">
              <a:solidFill>
                <a:srgbClr val="FFFFFF"/>
              </a:solidFill>
              <a:latin typeface="Cardo Bold"/>
              <a:ea typeface="Cardo Bold"/>
              <a:cs typeface="Cardo Bold"/>
              <a:sym typeface="Cardo Bold"/>
            </a:endParaRPr>
          </a:p>
          <a:p>
            <a:pPr algn="l">
              <a:lnSpc>
                <a:spcPts val="2327"/>
              </a:lnSpc>
              <a:spcBef>
                <a:spcPct val="0"/>
              </a:spcBef>
            </a:pPr>
            <a:endParaRPr lang="en-US" sz="2327" b="1">
              <a:solidFill>
                <a:srgbClr val="FFFFFF"/>
              </a:solidFill>
              <a:latin typeface="Cardo Bold"/>
              <a:ea typeface="Cardo Bold"/>
              <a:cs typeface="Cardo Bold"/>
              <a:sym typeface="Cardo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06761" y="6590408"/>
            <a:ext cx="8178156" cy="1474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7"/>
              </a:lnSpc>
            </a:pPr>
            <a:r>
              <a:rPr lang="en-US" sz="2327" b="1">
                <a:solidFill>
                  <a:srgbClr val="FFFFFF"/>
                </a:solidFill>
                <a:latin typeface="Cardo Bold"/>
                <a:ea typeface="Cardo Bold"/>
                <a:cs typeface="Cardo Bold"/>
                <a:sym typeface="Cardo Bold"/>
              </a:rPr>
              <a:t>AL-AF MUKTADIR</a:t>
            </a:r>
          </a:p>
          <a:p>
            <a:pPr algn="l">
              <a:lnSpc>
                <a:spcPts val="2327"/>
              </a:lnSpc>
            </a:pPr>
            <a:endParaRPr lang="en-US" sz="2327" b="1">
              <a:solidFill>
                <a:srgbClr val="FFFFFF"/>
              </a:solidFill>
              <a:latin typeface="Cardo Bold"/>
              <a:ea typeface="Cardo Bold"/>
              <a:cs typeface="Cardo Bold"/>
              <a:sym typeface="Cardo Bold"/>
            </a:endParaRPr>
          </a:p>
          <a:p>
            <a:pPr algn="l">
              <a:lnSpc>
                <a:spcPts val="2327"/>
              </a:lnSpc>
            </a:pPr>
            <a:r>
              <a:rPr lang="en-US" sz="2327" b="1">
                <a:solidFill>
                  <a:srgbClr val="FFFFFF"/>
                </a:solidFill>
                <a:latin typeface="Cardo Bold"/>
                <a:ea typeface="Cardo Bold"/>
                <a:cs typeface="Cardo Bold"/>
                <a:sym typeface="Cardo Bold"/>
              </a:rPr>
              <a:t>    22329755642</a:t>
            </a:r>
          </a:p>
          <a:p>
            <a:pPr algn="l">
              <a:lnSpc>
                <a:spcPts val="2327"/>
              </a:lnSpc>
            </a:pPr>
            <a:endParaRPr lang="en-US" sz="2327" b="1">
              <a:solidFill>
                <a:srgbClr val="FFFFFF"/>
              </a:solidFill>
              <a:latin typeface="Cardo Bold"/>
              <a:ea typeface="Cardo Bold"/>
              <a:cs typeface="Cardo Bold"/>
              <a:sym typeface="Cardo Bold"/>
            </a:endParaRPr>
          </a:p>
          <a:p>
            <a:pPr algn="l">
              <a:lnSpc>
                <a:spcPts val="2327"/>
              </a:lnSpc>
              <a:spcBef>
                <a:spcPct val="0"/>
              </a:spcBef>
            </a:pPr>
            <a:endParaRPr lang="en-US" sz="2327" b="1">
              <a:solidFill>
                <a:srgbClr val="FFFFFF"/>
              </a:solidFill>
              <a:latin typeface="Cardo Bold"/>
              <a:ea typeface="Cardo Bold"/>
              <a:cs typeface="Cardo Bold"/>
              <a:sym typeface="Cardo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06761" y="7783523"/>
            <a:ext cx="8178156" cy="1182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7"/>
              </a:lnSpc>
            </a:pPr>
            <a:r>
              <a:rPr lang="en-US" sz="2327" b="1">
                <a:solidFill>
                  <a:srgbClr val="FFFFFF"/>
                </a:solidFill>
                <a:latin typeface="Cardo Bold"/>
                <a:ea typeface="Cardo Bold"/>
                <a:cs typeface="Cardo Bold"/>
                <a:sym typeface="Cardo Bold"/>
              </a:rPr>
              <a:t>ASIF MAHBUB</a:t>
            </a:r>
          </a:p>
          <a:p>
            <a:pPr algn="l">
              <a:lnSpc>
                <a:spcPts val="2327"/>
              </a:lnSpc>
            </a:pPr>
            <a:endParaRPr lang="en-US" sz="2327" b="1">
              <a:solidFill>
                <a:srgbClr val="FFFFFF"/>
              </a:solidFill>
              <a:latin typeface="Cardo Bold"/>
              <a:ea typeface="Cardo Bold"/>
              <a:cs typeface="Cardo Bold"/>
              <a:sym typeface="Cardo Bold"/>
            </a:endParaRPr>
          </a:p>
          <a:p>
            <a:pPr algn="l">
              <a:lnSpc>
                <a:spcPts val="2327"/>
              </a:lnSpc>
            </a:pPr>
            <a:r>
              <a:rPr lang="en-US" sz="2327" b="1">
                <a:solidFill>
                  <a:srgbClr val="FFFFFF"/>
                </a:solidFill>
                <a:latin typeface="Cardo Bold"/>
                <a:ea typeface="Cardo Bold"/>
                <a:cs typeface="Cardo Bold"/>
                <a:sym typeface="Cardo Bold"/>
              </a:rPr>
              <a:t>   22321119042</a:t>
            </a:r>
          </a:p>
          <a:p>
            <a:pPr algn="l">
              <a:lnSpc>
                <a:spcPts val="2327"/>
              </a:lnSpc>
              <a:spcBef>
                <a:spcPct val="0"/>
              </a:spcBef>
            </a:pPr>
            <a:endParaRPr lang="en-US" sz="2327" b="1">
              <a:solidFill>
                <a:srgbClr val="FFFFFF"/>
              </a:solidFill>
              <a:latin typeface="Cardo Bold"/>
              <a:ea typeface="Cardo Bold"/>
              <a:cs typeface="Cardo Bold"/>
              <a:sym typeface="Cardo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0" y="-1460013"/>
            <a:ext cx="20384104" cy="12673502"/>
            <a:chOff x="0" y="0"/>
            <a:chExt cx="5368653" cy="333787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368653" cy="3337877"/>
            </a:xfrm>
            <a:custGeom>
              <a:avLst/>
              <a:gdLst/>
              <a:ahLst/>
              <a:cxnLst/>
              <a:rect l="l" t="t" r="r" b="b"/>
              <a:pathLst>
                <a:path w="5368653" h="3337877">
                  <a:moveTo>
                    <a:pt x="0" y="0"/>
                  </a:moveTo>
                  <a:lnTo>
                    <a:pt x="5368653" y="0"/>
                  </a:lnTo>
                  <a:lnTo>
                    <a:pt x="5368653" y="3337877"/>
                  </a:lnTo>
                  <a:lnTo>
                    <a:pt x="0" y="3337877"/>
                  </a:lnTo>
                  <a:close/>
                </a:path>
              </a:pathLst>
            </a:custGeom>
            <a:gradFill rotWithShape="1">
              <a:gsLst>
                <a:gs pos="0">
                  <a:srgbClr val="003297">
                    <a:alpha val="0"/>
                  </a:srgbClr>
                </a:gs>
                <a:gs pos="100000">
                  <a:srgbClr val="003297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368653" cy="33759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325384"/>
            <a:ext cx="16829944" cy="1846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1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WHY FACIAL EMOTION RECOGNITION SYSTEM?</a:t>
            </a:r>
          </a:p>
          <a:p>
            <a:pPr algn="l">
              <a:lnSpc>
                <a:spcPts val="7200"/>
              </a:lnSpc>
            </a:pPr>
            <a:r>
              <a:rPr lang="en-US" sz="7200" b="1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48829" y="1609461"/>
            <a:ext cx="8215382" cy="90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39"/>
              </a:lnSpc>
            </a:pPr>
            <a:r>
              <a:rPr lang="en-US" sz="205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face recognition system in ML is a deep learning model that can identify or verify a person’s emotion by learning patterns from their facial images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612331" y="6263742"/>
            <a:ext cx="7063337" cy="1094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80"/>
              </a:lnSpc>
            </a:pPr>
            <a:r>
              <a:rPr lang="en-US" sz="3667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Why Emotion</a:t>
            </a:r>
          </a:p>
          <a:p>
            <a:pPr algn="ctr">
              <a:lnSpc>
                <a:spcPts val="4180"/>
              </a:lnSpc>
              <a:spcBef>
                <a:spcPct val="0"/>
              </a:spcBef>
            </a:pPr>
            <a:r>
              <a:rPr lang="en-US" sz="3667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Recognition</a:t>
            </a:r>
          </a:p>
        </p:txBody>
      </p:sp>
      <p:sp>
        <p:nvSpPr>
          <p:cNvPr id="8" name="AutoShape 8"/>
          <p:cNvSpPr/>
          <p:nvPr/>
        </p:nvSpPr>
        <p:spPr>
          <a:xfrm flipH="1" flipV="1">
            <a:off x="4946862" y="5042659"/>
            <a:ext cx="3581069" cy="961303"/>
          </a:xfrm>
          <a:prstGeom prst="line">
            <a:avLst/>
          </a:prstGeom>
          <a:ln w="28575" cap="rnd">
            <a:solidFill>
              <a:srgbClr val="FFFFFF"/>
            </a:solidFill>
            <a:prstDash val="sysDash"/>
            <a:headEnd type="oval" w="lg" len="lg"/>
            <a:tailEnd type="arrow" w="med" len="sm"/>
          </a:ln>
        </p:spPr>
      </p:sp>
      <p:sp>
        <p:nvSpPr>
          <p:cNvPr id="9" name="AutoShape 9"/>
          <p:cNvSpPr/>
          <p:nvPr/>
        </p:nvSpPr>
        <p:spPr>
          <a:xfrm flipV="1">
            <a:off x="10192052" y="4277422"/>
            <a:ext cx="2043083" cy="1726541"/>
          </a:xfrm>
          <a:prstGeom prst="line">
            <a:avLst/>
          </a:prstGeom>
          <a:ln w="28575" cap="rnd">
            <a:solidFill>
              <a:srgbClr val="FFFFFF"/>
            </a:solidFill>
            <a:prstDash val="sysDash"/>
            <a:headEnd type="oval" w="lg" len="lg"/>
            <a:tailEnd type="arrow" w="med" len="sm"/>
          </a:ln>
        </p:spPr>
      </p:sp>
      <p:sp>
        <p:nvSpPr>
          <p:cNvPr id="10" name="AutoShape 10"/>
          <p:cNvSpPr/>
          <p:nvPr/>
        </p:nvSpPr>
        <p:spPr>
          <a:xfrm flipH="1">
            <a:off x="4522230" y="6981235"/>
            <a:ext cx="2565358" cy="949029"/>
          </a:xfrm>
          <a:prstGeom prst="line">
            <a:avLst/>
          </a:prstGeom>
          <a:ln w="28575" cap="rnd">
            <a:solidFill>
              <a:srgbClr val="FFFFFF"/>
            </a:solidFill>
            <a:prstDash val="sysDash"/>
            <a:headEnd type="oval" w="lg" len="lg"/>
            <a:tailEnd type="arrow" w="med" len="sm"/>
          </a:ln>
        </p:spPr>
      </p:sp>
      <p:sp>
        <p:nvSpPr>
          <p:cNvPr id="11" name="TextBox 11"/>
          <p:cNvSpPr txBox="1"/>
          <p:nvPr/>
        </p:nvSpPr>
        <p:spPr>
          <a:xfrm>
            <a:off x="1317350" y="3726325"/>
            <a:ext cx="3629511" cy="25564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44"/>
              </a:lnSpc>
            </a:pPr>
            <a:r>
              <a:rPr lang="en-US" sz="2960" b="1">
                <a:solidFill>
                  <a:srgbClr val="7CCAE4"/>
                </a:solidFill>
                <a:latin typeface="Raleway Bold"/>
                <a:ea typeface="Raleway Bold"/>
                <a:cs typeface="Raleway Bold"/>
                <a:sym typeface="Raleway Bold"/>
              </a:rPr>
              <a:t>Human emotions are important in communication</a:t>
            </a:r>
          </a:p>
          <a:p>
            <a:pPr algn="ctr">
              <a:lnSpc>
                <a:spcPts val="4144"/>
              </a:lnSpc>
            </a:pPr>
            <a:endParaRPr lang="en-US" sz="2960" b="1">
              <a:solidFill>
                <a:srgbClr val="7CCAE4"/>
              </a:solidFill>
              <a:latin typeface="Raleway Bold"/>
              <a:ea typeface="Raleway Bold"/>
              <a:cs typeface="Raleway Bold"/>
              <a:sym typeface="Raleway Bold"/>
            </a:endParaRPr>
          </a:p>
          <a:p>
            <a:pPr algn="ctr">
              <a:lnSpc>
                <a:spcPts val="4144"/>
              </a:lnSpc>
            </a:pPr>
            <a:endParaRPr lang="en-US" sz="2960" b="1">
              <a:solidFill>
                <a:srgbClr val="7CCAE4"/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2675669" y="3936695"/>
            <a:ext cx="4067375" cy="4077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82"/>
              </a:lnSpc>
            </a:pPr>
            <a:r>
              <a:rPr lang="en-US" sz="2630" b="1">
                <a:solidFill>
                  <a:srgbClr val="7CCAE4"/>
                </a:solidFill>
                <a:latin typeface="Raleway Bold"/>
                <a:ea typeface="Raleway Bold"/>
                <a:cs typeface="Raleway Bold"/>
                <a:sym typeface="Raleway Bold"/>
              </a:rPr>
              <a:t>Emotion-aware systems can improve:</a:t>
            </a:r>
          </a:p>
          <a:p>
            <a:pPr algn="ctr">
              <a:lnSpc>
                <a:spcPts val="3682"/>
              </a:lnSpc>
            </a:pPr>
            <a:endParaRPr lang="en-US" sz="2630" b="1">
              <a:solidFill>
                <a:srgbClr val="7CCAE4"/>
              </a:solidFill>
              <a:latin typeface="Raleway Bold"/>
              <a:ea typeface="Raleway Bold"/>
              <a:cs typeface="Raleway Bold"/>
              <a:sym typeface="Raleway Bold"/>
            </a:endParaRPr>
          </a:p>
          <a:p>
            <a:pPr marL="1135806" lvl="2" indent="-378602" algn="ctr">
              <a:lnSpc>
                <a:spcPts val="3682"/>
              </a:lnSpc>
              <a:buFont typeface="Arial"/>
              <a:buChar char="⚬"/>
            </a:pPr>
            <a:r>
              <a:rPr lang="en-US" sz="2630" b="1">
                <a:solidFill>
                  <a:srgbClr val="7CCAE4"/>
                </a:solidFill>
                <a:latin typeface="Raleway Bold"/>
                <a:ea typeface="Raleway Bold"/>
                <a:cs typeface="Raleway Bold"/>
                <a:sym typeface="Raleway Bold"/>
              </a:rPr>
              <a:t>Education</a:t>
            </a:r>
          </a:p>
          <a:p>
            <a:pPr marL="1135806" lvl="2" indent="-378602" algn="ctr">
              <a:lnSpc>
                <a:spcPts val="3682"/>
              </a:lnSpc>
              <a:buFont typeface="Arial"/>
              <a:buChar char="⚬"/>
            </a:pPr>
            <a:r>
              <a:rPr lang="en-US" sz="2630" b="1">
                <a:solidFill>
                  <a:srgbClr val="7CCAE4"/>
                </a:solidFill>
                <a:latin typeface="Raleway Bold"/>
                <a:ea typeface="Raleway Bold"/>
                <a:cs typeface="Raleway Bold"/>
                <a:sym typeface="Raleway Bold"/>
              </a:rPr>
              <a:t>Healthcare</a:t>
            </a:r>
          </a:p>
          <a:p>
            <a:pPr marL="1135806" lvl="2" indent="-378602" algn="ctr">
              <a:lnSpc>
                <a:spcPts val="3682"/>
              </a:lnSpc>
              <a:buFont typeface="Arial"/>
              <a:buChar char="⚬"/>
            </a:pPr>
            <a:r>
              <a:rPr lang="en-US" sz="2630" b="1">
                <a:solidFill>
                  <a:srgbClr val="7CCAE4"/>
                </a:solidFill>
                <a:latin typeface="Raleway Bold"/>
                <a:ea typeface="Raleway Bold"/>
                <a:cs typeface="Raleway Bold"/>
                <a:sym typeface="Raleway Bold"/>
              </a:rPr>
              <a:t>Security</a:t>
            </a:r>
          </a:p>
          <a:p>
            <a:pPr marL="1135806" lvl="2" indent="-378602" algn="ctr">
              <a:lnSpc>
                <a:spcPts val="3682"/>
              </a:lnSpc>
              <a:buFont typeface="Arial"/>
              <a:buChar char="⚬"/>
            </a:pPr>
            <a:r>
              <a:rPr lang="en-US" sz="2630" b="1">
                <a:solidFill>
                  <a:srgbClr val="7CCAE4"/>
                </a:solidFill>
                <a:latin typeface="Raleway Bold"/>
                <a:ea typeface="Raleway Bold"/>
                <a:cs typeface="Raleway Bold"/>
                <a:sym typeface="Raleway Bold"/>
              </a:rPr>
              <a:t>Human–computer interaction</a:t>
            </a:r>
          </a:p>
          <a:p>
            <a:pPr algn="ctr">
              <a:lnSpc>
                <a:spcPts val="3682"/>
              </a:lnSpc>
            </a:pPr>
            <a:endParaRPr lang="en-US" sz="2630" b="1">
              <a:solidFill>
                <a:srgbClr val="7CCAE4"/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399954" y="6924085"/>
            <a:ext cx="4546908" cy="1856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6"/>
              </a:lnSpc>
            </a:pPr>
            <a:r>
              <a:rPr lang="en-US" sz="2704" b="1">
                <a:solidFill>
                  <a:srgbClr val="7CCAE4"/>
                </a:solidFill>
                <a:latin typeface="Raleway Bold"/>
                <a:ea typeface="Raleway Bold"/>
                <a:cs typeface="Raleway Bold"/>
                <a:sym typeface="Raleway Bold"/>
              </a:rPr>
              <a:t>Machines often fail to understand emotional context</a:t>
            </a:r>
          </a:p>
          <a:p>
            <a:pPr algn="ctr">
              <a:lnSpc>
                <a:spcPts val="3786"/>
              </a:lnSpc>
            </a:pPr>
            <a:endParaRPr lang="en-US" sz="2704" b="1">
              <a:solidFill>
                <a:srgbClr val="7CCAE4"/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-417707" y="-726971"/>
            <a:ext cx="19123414" cy="10667943"/>
            <a:chOff x="0" y="0"/>
            <a:chExt cx="5036619" cy="28096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36619" cy="2809664"/>
            </a:xfrm>
            <a:custGeom>
              <a:avLst/>
              <a:gdLst/>
              <a:ahLst/>
              <a:cxnLst/>
              <a:rect l="l" t="t" r="r" b="b"/>
              <a:pathLst>
                <a:path w="5036619" h="2809664">
                  <a:moveTo>
                    <a:pt x="0" y="0"/>
                  </a:moveTo>
                  <a:lnTo>
                    <a:pt x="5036619" y="0"/>
                  </a:lnTo>
                  <a:lnTo>
                    <a:pt x="5036619" y="2809664"/>
                  </a:lnTo>
                  <a:lnTo>
                    <a:pt x="0" y="2809664"/>
                  </a:lnTo>
                  <a:close/>
                </a:path>
              </a:pathLst>
            </a:custGeom>
            <a:gradFill rotWithShape="1">
              <a:gsLst>
                <a:gs pos="0">
                  <a:srgbClr val="003297">
                    <a:alpha val="0"/>
                  </a:srgbClr>
                </a:gs>
                <a:gs pos="100000">
                  <a:srgbClr val="003297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036619" cy="28477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94011" y="756023"/>
            <a:ext cx="10781510" cy="1092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3"/>
              </a:lnSpc>
            </a:pPr>
            <a:r>
              <a:rPr lang="en-US" sz="4193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Real-Time Facial Emotion Recognition System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5186166" y="8071807"/>
            <a:ext cx="144478" cy="144478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2A9F4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60199" tIns="60199" rIns="60199" bIns="60199" rtlCol="0" anchor="ctr"/>
            <a:lstStyle/>
            <a:p>
              <a:pPr algn="ctr">
                <a:lnSpc>
                  <a:spcPts val="2393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3429854" y="4083654"/>
            <a:ext cx="3657102" cy="3657102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3297">
                    <a:alpha val="0"/>
                  </a:srgbClr>
                </a:gs>
                <a:gs pos="100000">
                  <a:srgbClr val="098DED">
                    <a:alpha val="100000"/>
                  </a:srgbClr>
                </a:gs>
              </a:gsLst>
              <a:lin ang="0"/>
            </a:gradFill>
            <a:ln w="38100" cap="rnd">
              <a:gradFill>
                <a:gsLst>
                  <a:gs pos="0">
                    <a:srgbClr val="42A9F4">
                      <a:alpha val="100000"/>
                    </a:srgbClr>
                  </a:gs>
                  <a:gs pos="100000">
                    <a:srgbClr val="003297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60199" tIns="60199" rIns="60199" bIns="60199" rtlCol="0" anchor="ctr"/>
            <a:lstStyle/>
            <a:p>
              <a:pPr marL="0" lvl="0" indent="0" algn="ctr">
                <a:lnSpc>
                  <a:spcPts val="239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3933676" y="5015302"/>
            <a:ext cx="2792814" cy="21248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8"/>
              </a:lnSpc>
            </a:pPr>
            <a:r>
              <a:rPr lang="en-US" sz="3318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 Real-Time Facial Emotion Recognition System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6726490" y="2667015"/>
            <a:ext cx="7009417" cy="914022"/>
            <a:chOff x="0" y="0"/>
            <a:chExt cx="1557860" cy="20314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557860" cy="203144"/>
            </a:xfrm>
            <a:custGeom>
              <a:avLst/>
              <a:gdLst/>
              <a:ahLst/>
              <a:cxnLst/>
              <a:rect l="l" t="t" r="r" b="b"/>
              <a:pathLst>
                <a:path w="1557860" h="203144">
                  <a:moveTo>
                    <a:pt x="101572" y="0"/>
                  </a:moveTo>
                  <a:lnTo>
                    <a:pt x="1456289" y="0"/>
                  </a:lnTo>
                  <a:cubicBezTo>
                    <a:pt x="1512385" y="0"/>
                    <a:pt x="1557860" y="45475"/>
                    <a:pt x="1557860" y="101572"/>
                  </a:cubicBezTo>
                  <a:lnTo>
                    <a:pt x="1557860" y="101572"/>
                  </a:lnTo>
                  <a:cubicBezTo>
                    <a:pt x="1557860" y="157668"/>
                    <a:pt x="1512385" y="203144"/>
                    <a:pt x="1456289" y="203144"/>
                  </a:cubicBezTo>
                  <a:lnTo>
                    <a:pt x="101572" y="203144"/>
                  </a:lnTo>
                  <a:cubicBezTo>
                    <a:pt x="45475" y="203144"/>
                    <a:pt x="0" y="157668"/>
                    <a:pt x="0" y="101572"/>
                  </a:cubicBezTo>
                  <a:lnTo>
                    <a:pt x="0" y="101572"/>
                  </a:lnTo>
                  <a:cubicBezTo>
                    <a:pt x="0" y="45475"/>
                    <a:pt x="45475" y="0"/>
                    <a:pt x="10157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297">
                    <a:alpha val="0"/>
                  </a:srgbClr>
                </a:gs>
                <a:gs pos="100000">
                  <a:srgbClr val="098DED">
                    <a:alpha val="100000"/>
                  </a:srgbClr>
                </a:gs>
              </a:gsLst>
              <a:lin ang="0"/>
            </a:gradFill>
            <a:ln w="38100" cap="rnd">
              <a:gradFill>
                <a:gsLst>
                  <a:gs pos="0">
                    <a:srgbClr val="42A9F4">
                      <a:alpha val="100000"/>
                    </a:srgbClr>
                  </a:gs>
                  <a:gs pos="100000">
                    <a:srgbClr val="003297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1557860" cy="203144"/>
            </a:xfrm>
            <a:prstGeom prst="rect">
              <a:avLst/>
            </a:prstGeom>
          </p:spPr>
          <p:txBody>
            <a:bodyPr lIns="60199" tIns="60199" rIns="60199" bIns="60199" rtlCol="0" anchor="ctr"/>
            <a:lstStyle/>
            <a:p>
              <a:pPr algn="ctr">
                <a:lnSpc>
                  <a:spcPts val="2393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220333" y="5065423"/>
            <a:ext cx="7303500" cy="914022"/>
            <a:chOff x="0" y="0"/>
            <a:chExt cx="1623221" cy="20314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623221" cy="203144"/>
            </a:xfrm>
            <a:custGeom>
              <a:avLst/>
              <a:gdLst/>
              <a:ahLst/>
              <a:cxnLst/>
              <a:rect l="l" t="t" r="r" b="b"/>
              <a:pathLst>
                <a:path w="1623221" h="203144">
                  <a:moveTo>
                    <a:pt x="101572" y="0"/>
                  </a:moveTo>
                  <a:lnTo>
                    <a:pt x="1521649" y="0"/>
                  </a:lnTo>
                  <a:cubicBezTo>
                    <a:pt x="1548588" y="0"/>
                    <a:pt x="1574423" y="10701"/>
                    <a:pt x="1593471" y="29750"/>
                  </a:cubicBezTo>
                  <a:cubicBezTo>
                    <a:pt x="1612520" y="48798"/>
                    <a:pt x="1623221" y="74633"/>
                    <a:pt x="1623221" y="101572"/>
                  </a:cubicBezTo>
                  <a:lnTo>
                    <a:pt x="1623221" y="101572"/>
                  </a:lnTo>
                  <a:cubicBezTo>
                    <a:pt x="1623221" y="157668"/>
                    <a:pt x="1577746" y="203144"/>
                    <a:pt x="1521649" y="203144"/>
                  </a:cubicBezTo>
                  <a:lnTo>
                    <a:pt x="101572" y="203144"/>
                  </a:lnTo>
                  <a:cubicBezTo>
                    <a:pt x="45475" y="203144"/>
                    <a:pt x="0" y="157668"/>
                    <a:pt x="0" y="101572"/>
                  </a:cubicBezTo>
                  <a:lnTo>
                    <a:pt x="0" y="101572"/>
                  </a:lnTo>
                  <a:cubicBezTo>
                    <a:pt x="0" y="45475"/>
                    <a:pt x="45475" y="0"/>
                    <a:pt x="10157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297">
                    <a:alpha val="0"/>
                  </a:srgbClr>
                </a:gs>
                <a:gs pos="100000">
                  <a:srgbClr val="098DED">
                    <a:alpha val="100000"/>
                  </a:srgbClr>
                </a:gs>
              </a:gsLst>
              <a:lin ang="0"/>
            </a:gradFill>
            <a:ln w="38100" cap="rnd">
              <a:gradFill>
                <a:gsLst>
                  <a:gs pos="0">
                    <a:srgbClr val="42A9F4">
                      <a:alpha val="100000"/>
                    </a:srgbClr>
                  </a:gs>
                  <a:gs pos="100000">
                    <a:srgbClr val="003297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0"/>
              <a:ext cx="1623221" cy="203144"/>
            </a:xfrm>
            <a:prstGeom prst="rect">
              <a:avLst/>
            </a:prstGeom>
          </p:spPr>
          <p:txBody>
            <a:bodyPr lIns="60199" tIns="60199" rIns="60199" bIns="60199" rtlCol="0" anchor="ctr"/>
            <a:lstStyle/>
            <a:p>
              <a:pPr algn="ctr">
                <a:lnSpc>
                  <a:spcPts val="2393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 rot="5400000">
            <a:off x="4128940" y="4782741"/>
            <a:ext cx="4517860" cy="2258930"/>
          </a:xfrm>
          <a:custGeom>
            <a:avLst/>
            <a:gdLst/>
            <a:ahLst/>
            <a:cxnLst/>
            <a:rect l="l" t="t" r="r" b="b"/>
            <a:pathLst>
              <a:path w="4517860" h="2258930">
                <a:moveTo>
                  <a:pt x="0" y="0"/>
                </a:moveTo>
                <a:lnTo>
                  <a:pt x="4517859" y="0"/>
                </a:lnTo>
                <a:lnTo>
                  <a:pt x="4517859" y="2258929"/>
                </a:lnTo>
                <a:lnTo>
                  <a:pt x="0" y="22589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0" name="AutoShape 20"/>
          <p:cNvSpPr/>
          <p:nvPr/>
        </p:nvSpPr>
        <p:spPr>
          <a:xfrm flipV="1">
            <a:off x="6254812" y="3196265"/>
            <a:ext cx="535332" cy="694902"/>
          </a:xfrm>
          <a:prstGeom prst="line">
            <a:avLst/>
          </a:prstGeom>
          <a:ln w="47625" cap="flat">
            <a:solidFill>
              <a:srgbClr val="42A9F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AutoShape 21"/>
          <p:cNvSpPr/>
          <p:nvPr/>
        </p:nvSpPr>
        <p:spPr>
          <a:xfrm flipV="1">
            <a:off x="7609178" y="5522434"/>
            <a:ext cx="516682" cy="618336"/>
          </a:xfrm>
          <a:prstGeom prst="line">
            <a:avLst/>
          </a:prstGeom>
          <a:ln w="47625" cap="flat">
            <a:solidFill>
              <a:srgbClr val="42A9F4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2" name="Group 22"/>
          <p:cNvGrpSpPr/>
          <p:nvPr/>
        </p:nvGrpSpPr>
        <p:grpSpPr>
          <a:xfrm>
            <a:off x="5186166" y="3581037"/>
            <a:ext cx="144478" cy="144478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2A9F4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60199" tIns="60199" rIns="60199" bIns="60199" rtlCol="0" anchor="ctr"/>
            <a:lstStyle/>
            <a:p>
              <a:pPr algn="ctr">
                <a:lnSpc>
                  <a:spcPts val="2393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8474867" y="5292428"/>
            <a:ext cx="6876464" cy="395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4"/>
              </a:lnSpc>
            </a:pPr>
            <a:r>
              <a:rPr lang="en-US" sz="2844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Built with TensorFlow, Keras, and OpenCV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086956" y="2945409"/>
            <a:ext cx="6945764" cy="395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4"/>
              </a:lnSpc>
            </a:pPr>
            <a:r>
              <a:rPr lang="en-US" sz="2844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Using Deep Learning &amp; Computer Vision</a:t>
            </a:r>
          </a:p>
        </p:txBody>
      </p:sp>
      <p:sp>
        <p:nvSpPr>
          <p:cNvPr id="27" name="AutoShape 27"/>
          <p:cNvSpPr/>
          <p:nvPr/>
        </p:nvSpPr>
        <p:spPr>
          <a:xfrm>
            <a:off x="7217715" y="7230041"/>
            <a:ext cx="807668" cy="314203"/>
          </a:xfrm>
          <a:prstGeom prst="line">
            <a:avLst/>
          </a:prstGeom>
          <a:ln w="47625" cap="flat">
            <a:solidFill>
              <a:srgbClr val="42A9F4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8" name="Group 28"/>
          <p:cNvGrpSpPr/>
          <p:nvPr/>
        </p:nvGrpSpPr>
        <p:grpSpPr>
          <a:xfrm>
            <a:off x="8125860" y="7302263"/>
            <a:ext cx="7795343" cy="914022"/>
            <a:chOff x="0" y="0"/>
            <a:chExt cx="1732534" cy="203144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732534" cy="203144"/>
            </a:xfrm>
            <a:custGeom>
              <a:avLst/>
              <a:gdLst/>
              <a:ahLst/>
              <a:cxnLst/>
              <a:rect l="l" t="t" r="r" b="b"/>
              <a:pathLst>
                <a:path w="1732534" h="203144">
                  <a:moveTo>
                    <a:pt x="99315" y="0"/>
                  </a:moveTo>
                  <a:lnTo>
                    <a:pt x="1633220" y="0"/>
                  </a:lnTo>
                  <a:cubicBezTo>
                    <a:pt x="1659560" y="0"/>
                    <a:pt x="1684821" y="10463"/>
                    <a:pt x="1703446" y="29089"/>
                  </a:cubicBezTo>
                  <a:cubicBezTo>
                    <a:pt x="1722071" y="47714"/>
                    <a:pt x="1732534" y="72975"/>
                    <a:pt x="1732534" y="99315"/>
                  </a:cubicBezTo>
                  <a:lnTo>
                    <a:pt x="1732534" y="103829"/>
                  </a:lnTo>
                  <a:cubicBezTo>
                    <a:pt x="1732534" y="158679"/>
                    <a:pt x="1688070" y="203144"/>
                    <a:pt x="1633220" y="203144"/>
                  </a:cubicBezTo>
                  <a:lnTo>
                    <a:pt x="99315" y="203144"/>
                  </a:lnTo>
                  <a:cubicBezTo>
                    <a:pt x="72975" y="203144"/>
                    <a:pt x="47714" y="192680"/>
                    <a:pt x="29089" y="174055"/>
                  </a:cubicBezTo>
                  <a:cubicBezTo>
                    <a:pt x="10463" y="155430"/>
                    <a:pt x="0" y="130169"/>
                    <a:pt x="0" y="103829"/>
                  </a:cubicBezTo>
                  <a:lnTo>
                    <a:pt x="0" y="99315"/>
                  </a:lnTo>
                  <a:cubicBezTo>
                    <a:pt x="0" y="44465"/>
                    <a:pt x="44465" y="0"/>
                    <a:pt x="9931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297">
                    <a:alpha val="0"/>
                  </a:srgbClr>
                </a:gs>
                <a:gs pos="100000">
                  <a:srgbClr val="098DED">
                    <a:alpha val="100000"/>
                  </a:srgbClr>
                </a:gs>
              </a:gsLst>
              <a:lin ang="0"/>
            </a:gradFill>
            <a:ln w="38100" cap="rnd">
              <a:gradFill>
                <a:gsLst>
                  <a:gs pos="0">
                    <a:srgbClr val="42A9F4">
                      <a:alpha val="100000"/>
                    </a:srgbClr>
                  </a:gs>
                  <a:gs pos="100000">
                    <a:srgbClr val="003297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0" y="0"/>
              <a:ext cx="1732534" cy="203144"/>
            </a:xfrm>
            <a:prstGeom prst="rect">
              <a:avLst/>
            </a:prstGeom>
          </p:spPr>
          <p:txBody>
            <a:bodyPr lIns="60199" tIns="60199" rIns="60199" bIns="60199" rtlCol="0" anchor="ctr"/>
            <a:lstStyle/>
            <a:p>
              <a:pPr algn="ctr">
                <a:lnSpc>
                  <a:spcPts val="2393"/>
                </a:lnSpc>
              </a:pPr>
              <a:endParaRPr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8474867" y="7582344"/>
            <a:ext cx="9263326" cy="756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4"/>
              </a:lnSpc>
            </a:pPr>
            <a:r>
              <a:rPr lang="en-US" sz="2844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Real-time camera-based emotion detection</a:t>
            </a:r>
          </a:p>
          <a:p>
            <a:pPr algn="l">
              <a:lnSpc>
                <a:spcPts val="2844"/>
              </a:lnSpc>
            </a:pPr>
            <a:endParaRPr lang="en-US" sz="2844" b="1">
              <a:solidFill>
                <a:srgbClr val="FFFFFF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-394377" y="-147290"/>
            <a:ext cx="20384104" cy="12302505"/>
            <a:chOff x="0" y="0"/>
            <a:chExt cx="5368653" cy="32401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368653" cy="3240166"/>
            </a:xfrm>
            <a:custGeom>
              <a:avLst/>
              <a:gdLst/>
              <a:ahLst/>
              <a:cxnLst/>
              <a:rect l="l" t="t" r="r" b="b"/>
              <a:pathLst>
                <a:path w="5368653" h="3240166">
                  <a:moveTo>
                    <a:pt x="0" y="0"/>
                  </a:moveTo>
                  <a:lnTo>
                    <a:pt x="5368653" y="0"/>
                  </a:lnTo>
                  <a:lnTo>
                    <a:pt x="5368653" y="3240166"/>
                  </a:lnTo>
                  <a:lnTo>
                    <a:pt x="0" y="3240166"/>
                  </a:lnTo>
                  <a:close/>
                </a:path>
              </a:pathLst>
            </a:custGeom>
            <a:gradFill rotWithShape="1">
              <a:gsLst>
                <a:gs pos="0">
                  <a:srgbClr val="003297">
                    <a:alpha val="0"/>
                  </a:srgbClr>
                </a:gs>
                <a:gs pos="100000">
                  <a:srgbClr val="003297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368653" cy="32782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671590" y="451320"/>
            <a:ext cx="12377392" cy="1360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</a:pPr>
            <a:r>
              <a:rPr lang="en-US" sz="5200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WHAT THIS PROJECT DOES</a:t>
            </a:r>
          </a:p>
          <a:p>
            <a:pPr algn="l">
              <a:lnSpc>
                <a:spcPts val="5200"/>
              </a:lnSpc>
            </a:pPr>
            <a:endParaRPr lang="en-US" sz="5200" b="1">
              <a:solidFill>
                <a:srgbClr val="FFFFFF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540063" y="1333421"/>
            <a:ext cx="4799846" cy="6022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0410" lvl="1" indent="-290205" algn="ctr">
              <a:lnSpc>
                <a:spcPts val="3763"/>
              </a:lnSpc>
              <a:buFont typeface="Arial"/>
              <a:buChar char="•"/>
            </a:pPr>
            <a:r>
              <a:rPr lang="en-US" sz="2688" b="1">
                <a:solidFill>
                  <a:srgbClr val="7CCAE4"/>
                </a:solidFill>
                <a:latin typeface="Raleway Bold"/>
                <a:ea typeface="Raleway Bold"/>
                <a:cs typeface="Raleway Bold"/>
                <a:sym typeface="Raleway Bold"/>
              </a:rPr>
              <a:t>Detects human faces from a live camera</a:t>
            </a:r>
          </a:p>
          <a:p>
            <a:pPr algn="ctr">
              <a:lnSpc>
                <a:spcPts val="3763"/>
              </a:lnSpc>
            </a:pPr>
            <a:endParaRPr lang="en-US" sz="2688" b="1">
              <a:solidFill>
                <a:srgbClr val="7CCAE4"/>
              </a:solidFill>
              <a:latin typeface="Raleway Bold"/>
              <a:ea typeface="Raleway Bold"/>
              <a:cs typeface="Raleway Bold"/>
              <a:sym typeface="Raleway Bold"/>
            </a:endParaRPr>
          </a:p>
          <a:p>
            <a:pPr marL="580410" lvl="1" indent="-290205" algn="ctr">
              <a:lnSpc>
                <a:spcPts val="3763"/>
              </a:lnSpc>
              <a:buFont typeface="Arial"/>
              <a:buChar char="•"/>
            </a:pPr>
            <a:r>
              <a:rPr lang="en-US" sz="2688" b="1">
                <a:solidFill>
                  <a:srgbClr val="7CCAE4"/>
                </a:solidFill>
                <a:latin typeface="Raleway Bold"/>
                <a:ea typeface="Raleway Bold"/>
                <a:cs typeface="Raleway Bold"/>
                <a:sym typeface="Raleway Bold"/>
              </a:rPr>
              <a:t>Classifies emotions in real time</a:t>
            </a:r>
          </a:p>
          <a:p>
            <a:pPr algn="ctr">
              <a:lnSpc>
                <a:spcPts val="3763"/>
              </a:lnSpc>
            </a:pPr>
            <a:endParaRPr lang="en-US" sz="2688" b="1">
              <a:solidFill>
                <a:srgbClr val="7CCAE4"/>
              </a:solidFill>
              <a:latin typeface="Raleway Bold"/>
              <a:ea typeface="Raleway Bold"/>
              <a:cs typeface="Raleway Bold"/>
              <a:sym typeface="Raleway Bold"/>
            </a:endParaRPr>
          </a:p>
          <a:p>
            <a:pPr marL="580410" lvl="1" indent="-290205" algn="ctr">
              <a:lnSpc>
                <a:spcPts val="3763"/>
              </a:lnSpc>
              <a:buFont typeface="Arial"/>
              <a:buChar char="•"/>
            </a:pPr>
            <a:r>
              <a:rPr lang="en-US" sz="2688" b="1">
                <a:solidFill>
                  <a:srgbClr val="7CCAE4"/>
                </a:solidFill>
                <a:latin typeface="Raleway Bold"/>
                <a:ea typeface="Raleway Bold"/>
                <a:cs typeface="Raleway Bold"/>
                <a:sym typeface="Raleway Bold"/>
              </a:rPr>
              <a:t>Shows prediction confidence visually</a:t>
            </a:r>
          </a:p>
          <a:p>
            <a:pPr algn="ctr">
              <a:lnSpc>
                <a:spcPts val="3763"/>
              </a:lnSpc>
            </a:pPr>
            <a:endParaRPr lang="en-US" sz="2688" b="1">
              <a:solidFill>
                <a:srgbClr val="7CCAE4"/>
              </a:solidFill>
              <a:latin typeface="Raleway Bold"/>
              <a:ea typeface="Raleway Bold"/>
              <a:cs typeface="Raleway Bold"/>
              <a:sym typeface="Raleway Bold"/>
            </a:endParaRPr>
          </a:p>
          <a:p>
            <a:pPr marL="580410" lvl="1" indent="-290205" algn="ctr">
              <a:lnSpc>
                <a:spcPts val="3763"/>
              </a:lnSpc>
              <a:buFont typeface="Arial"/>
              <a:buChar char="•"/>
            </a:pPr>
            <a:r>
              <a:rPr lang="en-US" sz="2688" b="1">
                <a:solidFill>
                  <a:srgbClr val="7CCAE4"/>
                </a:solidFill>
                <a:latin typeface="Raleway Bold"/>
                <a:ea typeface="Raleway Bold"/>
                <a:cs typeface="Raleway Bold"/>
                <a:sym typeface="Raleway Bold"/>
              </a:rPr>
              <a:t>Smooth prediction using historical frames</a:t>
            </a:r>
          </a:p>
          <a:p>
            <a:pPr algn="ctr">
              <a:lnSpc>
                <a:spcPts val="3763"/>
              </a:lnSpc>
            </a:pPr>
            <a:endParaRPr lang="en-US" sz="2688" b="1">
              <a:solidFill>
                <a:srgbClr val="7CCAE4"/>
              </a:solidFill>
              <a:latin typeface="Raleway Bold"/>
              <a:ea typeface="Raleway Bold"/>
              <a:cs typeface="Raleway Bold"/>
              <a:sym typeface="Raleway Bold"/>
            </a:endParaRPr>
          </a:p>
          <a:p>
            <a:pPr algn="ctr">
              <a:lnSpc>
                <a:spcPts val="3763"/>
              </a:lnSpc>
            </a:pPr>
            <a:endParaRPr lang="en-US" sz="2688" b="1">
              <a:solidFill>
                <a:srgbClr val="7CCAE4"/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540063" y="8061965"/>
            <a:ext cx="8651460" cy="46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54"/>
              </a:lnSpc>
            </a:pPr>
            <a:r>
              <a:rPr lang="en-US" sz="2682" b="1">
                <a:solidFill>
                  <a:srgbClr val="7CCAE4"/>
                </a:solidFill>
                <a:latin typeface="Raleway Bold"/>
                <a:ea typeface="Raleway Bold"/>
                <a:cs typeface="Raleway Bold"/>
                <a:sym typeface="Raleway Bold"/>
              </a:rPr>
              <a:t>Angry, Disgust, Fear, Happy, Neutral, Sad, Surprise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40063" y="7102451"/>
            <a:ext cx="12377392" cy="573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4200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RECOGNIZED EMOTIONS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-569202" y="-169114"/>
            <a:ext cx="20384104" cy="12302505"/>
            <a:chOff x="0" y="0"/>
            <a:chExt cx="5368653" cy="32401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368653" cy="3240166"/>
            </a:xfrm>
            <a:custGeom>
              <a:avLst/>
              <a:gdLst/>
              <a:ahLst/>
              <a:cxnLst/>
              <a:rect l="l" t="t" r="r" b="b"/>
              <a:pathLst>
                <a:path w="5368653" h="3240166">
                  <a:moveTo>
                    <a:pt x="0" y="0"/>
                  </a:moveTo>
                  <a:lnTo>
                    <a:pt x="5368653" y="0"/>
                  </a:lnTo>
                  <a:lnTo>
                    <a:pt x="5368653" y="3240166"/>
                  </a:lnTo>
                  <a:lnTo>
                    <a:pt x="0" y="3240166"/>
                  </a:lnTo>
                  <a:close/>
                </a:path>
              </a:pathLst>
            </a:custGeom>
            <a:gradFill rotWithShape="1">
              <a:gsLst>
                <a:gs pos="0">
                  <a:srgbClr val="003297">
                    <a:alpha val="0"/>
                  </a:srgbClr>
                </a:gs>
                <a:gs pos="100000">
                  <a:srgbClr val="003297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368653" cy="32782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671590" y="451320"/>
            <a:ext cx="12377392" cy="703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</a:pPr>
            <a:r>
              <a:rPr lang="en-US" sz="5200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 KEY FEATURES &amp; ADVANTAGES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71590" y="2446050"/>
            <a:ext cx="4799846" cy="6022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0410" lvl="1" indent="-290205" algn="ctr">
              <a:lnSpc>
                <a:spcPts val="3763"/>
              </a:lnSpc>
              <a:buFont typeface="Arial"/>
              <a:buChar char="•"/>
            </a:pPr>
            <a:r>
              <a:rPr lang="en-US" sz="2688" b="1">
                <a:solidFill>
                  <a:srgbClr val="7CCAE4"/>
                </a:solidFill>
                <a:latin typeface="Raleway Bold"/>
                <a:ea typeface="Raleway Bold"/>
                <a:cs typeface="Raleway Bold"/>
                <a:sym typeface="Raleway Bold"/>
              </a:rPr>
              <a:t>Live webcam emotion prediction</a:t>
            </a:r>
          </a:p>
          <a:p>
            <a:pPr algn="ctr">
              <a:lnSpc>
                <a:spcPts val="3763"/>
              </a:lnSpc>
            </a:pPr>
            <a:endParaRPr lang="en-US" sz="2688" b="1">
              <a:solidFill>
                <a:srgbClr val="7CCAE4"/>
              </a:solidFill>
              <a:latin typeface="Raleway Bold"/>
              <a:ea typeface="Raleway Bold"/>
              <a:cs typeface="Raleway Bold"/>
              <a:sym typeface="Raleway Bold"/>
            </a:endParaRPr>
          </a:p>
          <a:p>
            <a:pPr marL="580410" lvl="1" indent="-290205" algn="ctr">
              <a:lnSpc>
                <a:spcPts val="3763"/>
              </a:lnSpc>
              <a:buFont typeface="Arial"/>
              <a:buChar char="•"/>
            </a:pPr>
            <a:r>
              <a:rPr lang="en-US" sz="2688" b="1">
                <a:solidFill>
                  <a:srgbClr val="7CCAE4"/>
                </a:solidFill>
                <a:latin typeface="Raleway Bold"/>
                <a:ea typeface="Raleway Bold"/>
                <a:cs typeface="Raleway Bold"/>
                <a:sym typeface="Raleway Bold"/>
              </a:rPr>
              <a:t>Confidence bar visualization</a:t>
            </a:r>
          </a:p>
          <a:p>
            <a:pPr algn="ctr">
              <a:lnSpc>
                <a:spcPts val="3763"/>
              </a:lnSpc>
            </a:pPr>
            <a:endParaRPr lang="en-US" sz="2688" b="1">
              <a:solidFill>
                <a:srgbClr val="7CCAE4"/>
              </a:solidFill>
              <a:latin typeface="Raleway Bold"/>
              <a:ea typeface="Raleway Bold"/>
              <a:cs typeface="Raleway Bold"/>
              <a:sym typeface="Raleway Bold"/>
            </a:endParaRPr>
          </a:p>
          <a:p>
            <a:pPr marL="580410" lvl="1" indent="-290205" algn="ctr">
              <a:lnSpc>
                <a:spcPts val="3763"/>
              </a:lnSpc>
              <a:buFont typeface="Arial"/>
              <a:buChar char="•"/>
            </a:pPr>
            <a:r>
              <a:rPr lang="en-US" sz="2688" b="1">
                <a:solidFill>
                  <a:srgbClr val="7CCAE4"/>
                </a:solidFill>
                <a:latin typeface="Raleway Bold"/>
                <a:ea typeface="Raleway Bold"/>
                <a:cs typeface="Raleway Bold"/>
                <a:sym typeface="Raleway Bold"/>
              </a:rPr>
              <a:t>Real-time frame-by-frame smoothing</a:t>
            </a:r>
          </a:p>
          <a:p>
            <a:pPr algn="ctr">
              <a:lnSpc>
                <a:spcPts val="3763"/>
              </a:lnSpc>
            </a:pPr>
            <a:endParaRPr lang="en-US" sz="2688" b="1">
              <a:solidFill>
                <a:srgbClr val="7CCAE4"/>
              </a:solidFill>
              <a:latin typeface="Raleway Bold"/>
              <a:ea typeface="Raleway Bold"/>
              <a:cs typeface="Raleway Bold"/>
              <a:sym typeface="Raleway Bold"/>
            </a:endParaRPr>
          </a:p>
          <a:p>
            <a:pPr marL="580410" lvl="1" indent="-290205" algn="ctr">
              <a:lnSpc>
                <a:spcPts val="3763"/>
              </a:lnSpc>
              <a:buFont typeface="Arial"/>
              <a:buChar char="•"/>
            </a:pPr>
            <a:r>
              <a:rPr lang="en-US" sz="2688" b="1">
                <a:solidFill>
                  <a:srgbClr val="7CCAE4"/>
                </a:solidFill>
                <a:latin typeface="Raleway Bold"/>
                <a:ea typeface="Raleway Bold"/>
                <a:cs typeface="Raleway Bold"/>
                <a:sym typeface="Raleway Bold"/>
              </a:rPr>
              <a:t>Save current frame</a:t>
            </a:r>
          </a:p>
          <a:p>
            <a:pPr algn="ctr">
              <a:lnSpc>
                <a:spcPts val="3763"/>
              </a:lnSpc>
            </a:pPr>
            <a:endParaRPr lang="en-US" sz="2688" b="1">
              <a:solidFill>
                <a:srgbClr val="7CCAE4"/>
              </a:solidFill>
              <a:latin typeface="Raleway Bold"/>
              <a:ea typeface="Raleway Bold"/>
              <a:cs typeface="Raleway Bold"/>
              <a:sym typeface="Raleway Bold"/>
            </a:endParaRPr>
          </a:p>
          <a:p>
            <a:pPr marL="580410" lvl="1" indent="-290205" algn="ctr">
              <a:lnSpc>
                <a:spcPts val="3763"/>
              </a:lnSpc>
              <a:buFont typeface="Arial"/>
              <a:buChar char="•"/>
            </a:pPr>
            <a:r>
              <a:rPr lang="en-US" sz="2688" b="1">
                <a:solidFill>
                  <a:srgbClr val="7CCAE4"/>
                </a:solidFill>
                <a:latin typeface="Raleway Bold"/>
                <a:ea typeface="Raleway Bold"/>
                <a:cs typeface="Raleway Bold"/>
                <a:sym typeface="Raleway Bold"/>
              </a:rPr>
              <a:t>Reset emotion history</a:t>
            </a:r>
          </a:p>
          <a:p>
            <a:pPr algn="ctr">
              <a:lnSpc>
                <a:spcPts val="3763"/>
              </a:lnSpc>
            </a:pPr>
            <a:endParaRPr lang="en-US" sz="2688" b="1">
              <a:solidFill>
                <a:srgbClr val="7CCAE4"/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3150450" y="1613150"/>
            <a:ext cx="6288666" cy="479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3500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FEATURES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337755" y="1555795"/>
            <a:ext cx="6921545" cy="479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3500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ADVANTAGES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249136" y="2446050"/>
            <a:ext cx="4799846" cy="4165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0410" lvl="1" indent="-290205" algn="ctr">
              <a:lnSpc>
                <a:spcPts val="3763"/>
              </a:lnSpc>
              <a:buFont typeface="Arial"/>
              <a:buChar char="•"/>
            </a:pPr>
            <a:r>
              <a:rPr lang="en-US" sz="2688" b="1">
                <a:solidFill>
                  <a:srgbClr val="7CCAE4"/>
                </a:solidFill>
                <a:latin typeface="Raleway Bold"/>
                <a:ea typeface="Raleway Bold"/>
                <a:cs typeface="Raleway Bold"/>
                <a:sym typeface="Raleway Bold"/>
              </a:rPr>
              <a:t>Lightweight and fast</a:t>
            </a:r>
          </a:p>
          <a:p>
            <a:pPr algn="ctr">
              <a:lnSpc>
                <a:spcPts val="3763"/>
              </a:lnSpc>
            </a:pPr>
            <a:endParaRPr lang="en-US" sz="2688" b="1">
              <a:solidFill>
                <a:srgbClr val="7CCAE4"/>
              </a:solidFill>
              <a:latin typeface="Raleway Bold"/>
              <a:ea typeface="Raleway Bold"/>
              <a:cs typeface="Raleway Bold"/>
              <a:sym typeface="Raleway Bold"/>
            </a:endParaRPr>
          </a:p>
          <a:p>
            <a:pPr marL="580410" lvl="1" indent="-290205" algn="ctr">
              <a:lnSpc>
                <a:spcPts val="3763"/>
              </a:lnSpc>
              <a:buFont typeface="Arial"/>
              <a:buChar char="•"/>
            </a:pPr>
            <a:r>
              <a:rPr lang="en-US" sz="2688" b="1">
                <a:solidFill>
                  <a:srgbClr val="7CCAE4"/>
                </a:solidFill>
                <a:latin typeface="Raleway Bold"/>
                <a:ea typeface="Raleway Bold"/>
                <a:cs typeface="Raleway Bold"/>
                <a:sym typeface="Raleway Bold"/>
              </a:rPr>
              <a:t>Works well with low-light grayscale images</a:t>
            </a:r>
          </a:p>
          <a:p>
            <a:pPr algn="ctr">
              <a:lnSpc>
                <a:spcPts val="3763"/>
              </a:lnSpc>
            </a:pPr>
            <a:endParaRPr lang="en-US" sz="2688" b="1">
              <a:solidFill>
                <a:srgbClr val="7CCAE4"/>
              </a:solidFill>
              <a:latin typeface="Raleway Bold"/>
              <a:ea typeface="Raleway Bold"/>
              <a:cs typeface="Raleway Bold"/>
              <a:sym typeface="Raleway Bold"/>
            </a:endParaRPr>
          </a:p>
          <a:p>
            <a:pPr marL="580410" lvl="1" indent="-290205" algn="ctr">
              <a:lnSpc>
                <a:spcPts val="3763"/>
              </a:lnSpc>
              <a:buFont typeface="Arial"/>
              <a:buChar char="•"/>
            </a:pPr>
            <a:r>
              <a:rPr lang="en-US" sz="2688" b="1">
                <a:solidFill>
                  <a:srgbClr val="7CCAE4"/>
                </a:solidFill>
                <a:latin typeface="Raleway Bold"/>
                <a:ea typeface="Raleway Bold"/>
                <a:cs typeface="Raleway Bold"/>
                <a:sym typeface="Raleway Bold"/>
              </a:rPr>
              <a:t>Easy to integrate into any software</a:t>
            </a:r>
          </a:p>
          <a:p>
            <a:pPr algn="ctr">
              <a:lnSpc>
                <a:spcPts val="3763"/>
              </a:lnSpc>
            </a:pPr>
            <a:endParaRPr lang="en-US" sz="2688" b="1">
              <a:solidFill>
                <a:srgbClr val="7CCAE4"/>
              </a:solidFill>
              <a:latin typeface="Raleway Bold"/>
              <a:ea typeface="Raleway Bold"/>
              <a:cs typeface="Raleway Bold"/>
              <a:sym typeface="Raleway Bold"/>
            </a:endParaRPr>
          </a:p>
          <a:p>
            <a:pPr algn="ctr">
              <a:lnSpc>
                <a:spcPts val="3763"/>
              </a:lnSpc>
            </a:pPr>
            <a:endParaRPr lang="en-US" sz="2688" b="1">
              <a:solidFill>
                <a:srgbClr val="7CCAE4"/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-190723" y="-105816"/>
            <a:ext cx="18830910" cy="10392816"/>
            <a:chOff x="0" y="0"/>
            <a:chExt cx="4959581" cy="273720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59581" cy="2737203"/>
            </a:xfrm>
            <a:custGeom>
              <a:avLst/>
              <a:gdLst/>
              <a:ahLst/>
              <a:cxnLst/>
              <a:rect l="l" t="t" r="r" b="b"/>
              <a:pathLst>
                <a:path w="4959581" h="2737203">
                  <a:moveTo>
                    <a:pt x="0" y="0"/>
                  </a:moveTo>
                  <a:lnTo>
                    <a:pt x="4959581" y="0"/>
                  </a:lnTo>
                  <a:lnTo>
                    <a:pt x="4959581" y="2737203"/>
                  </a:lnTo>
                  <a:lnTo>
                    <a:pt x="0" y="2737203"/>
                  </a:lnTo>
                  <a:close/>
                </a:path>
              </a:pathLst>
            </a:custGeom>
            <a:gradFill rotWithShape="1">
              <a:gsLst>
                <a:gs pos="0">
                  <a:srgbClr val="003297">
                    <a:alpha val="0"/>
                  </a:srgbClr>
                </a:gs>
                <a:gs pos="100000">
                  <a:srgbClr val="003297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959581" cy="277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506697" y="1014804"/>
            <a:ext cx="17802332" cy="85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6300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MODELS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86627" y="2303520"/>
            <a:ext cx="10339860" cy="925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21"/>
              </a:lnSpc>
            </a:pPr>
            <a:r>
              <a:rPr lang="en-US" sz="308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 this project, three different deep learning models were implemented for Facial Emotion Recognition 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2988787" y="8620333"/>
            <a:ext cx="121920" cy="121920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2A9F4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4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506697" y="4120379"/>
            <a:ext cx="11489838" cy="4871393"/>
            <a:chOff x="0" y="0"/>
            <a:chExt cx="15319784" cy="6495190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1512657"/>
              <a:ext cx="4114800" cy="4114800"/>
              <a:chOff x="0" y="0"/>
              <a:chExt cx="812800" cy="8128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3297">
                      <a:alpha val="0"/>
                    </a:srgbClr>
                  </a:gs>
                  <a:gs pos="100000">
                    <a:srgbClr val="098DED">
                      <a:alpha val="100000"/>
                    </a:srgbClr>
                  </a:gs>
                </a:gsLst>
                <a:lin ang="0"/>
              </a:gradFill>
              <a:ln w="38100" cap="rnd">
                <a:gradFill>
                  <a:gsLst>
                    <a:gs pos="0">
                      <a:srgbClr val="42A9F4">
                        <a:alpha val="100000"/>
                      </a:srgbClr>
                    </a:gs>
                    <a:gs pos="100000">
                      <a:srgbClr val="003297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394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638497" y="2884023"/>
              <a:ext cx="3142344" cy="9965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9"/>
                </a:lnSpc>
              </a:pPr>
              <a:r>
                <a:rPr lang="en-US" sz="2799" b="1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 Models Used in This Project</a:t>
              </a: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3780841" y="0"/>
              <a:ext cx="7129156" cy="1028415"/>
              <a:chOff x="0" y="0"/>
              <a:chExt cx="1408228" cy="203144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408228" cy="203144"/>
              </a:xfrm>
              <a:custGeom>
                <a:avLst/>
                <a:gdLst/>
                <a:ahLst/>
                <a:cxnLst/>
                <a:rect l="l" t="t" r="r" b="b"/>
                <a:pathLst>
                  <a:path w="1408228" h="203144">
                    <a:moveTo>
                      <a:pt x="101572" y="0"/>
                    </a:moveTo>
                    <a:lnTo>
                      <a:pt x="1306656" y="0"/>
                    </a:lnTo>
                    <a:cubicBezTo>
                      <a:pt x="1362753" y="0"/>
                      <a:pt x="1408228" y="45475"/>
                      <a:pt x="1408228" y="101572"/>
                    </a:cubicBezTo>
                    <a:lnTo>
                      <a:pt x="1408228" y="101572"/>
                    </a:lnTo>
                    <a:cubicBezTo>
                      <a:pt x="1408228" y="157668"/>
                      <a:pt x="1362753" y="203144"/>
                      <a:pt x="1306656" y="203144"/>
                    </a:cubicBezTo>
                    <a:lnTo>
                      <a:pt x="101572" y="203144"/>
                    </a:lnTo>
                    <a:cubicBezTo>
                      <a:pt x="45475" y="203144"/>
                      <a:pt x="0" y="157668"/>
                      <a:pt x="0" y="101572"/>
                    </a:cubicBezTo>
                    <a:lnTo>
                      <a:pt x="0" y="101572"/>
                    </a:lnTo>
                    <a:cubicBezTo>
                      <a:pt x="0" y="45475"/>
                      <a:pt x="45475" y="0"/>
                      <a:pt x="101572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03297">
                      <a:alpha val="0"/>
                    </a:srgbClr>
                  </a:gs>
                  <a:gs pos="100000">
                    <a:srgbClr val="098DED">
                      <a:alpha val="100000"/>
                    </a:srgbClr>
                  </a:gs>
                </a:gsLst>
                <a:lin ang="0"/>
              </a:gradFill>
              <a:ln w="38100" cap="rnd">
                <a:gradFill>
                  <a:gsLst>
                    <a:gs pos="0">
                      <a:srgbClr val="42A9F4">
                        <a:alpha val="100000"/>
                      </a:srgbClr>
                    </a:gs>
                    <a:gs pos="100000">
                      <a:srgbClr val="003297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0"/>
                <a:ext cx="1408228" cy="20314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94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5133214" y="2833804"/>
              <a:ext cx="9267477" cy="1028415"/>
              <a:chOff x="0" y="0"/>
              <a:chExt cx="1830613" cy="203144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1830613" cy="203144"/>
              </a:xfrm>
              <a:custGeom>
                <a:avLst/>
                <a:gdLst/>
                <a:ahLst/>
                <a:cxnLst/>
                <a:rect l="l" t="t" r="r" b="b"/>
                <a:pathLst>
                  <a:path w="1830613" h="203144">
                    <a:moveTo>
                      <a:pt x="101572" y="0"/>
                    </a:moveTo>
                    <a:lnTo>
                      <a:pt x="1729041" y="0"/>
                    </a:lnTo>
                    <a:cubicBezTo>
                      <a:pt x="1785137" y="0"/>
                      <a:pt x="1830613" y="45475"/>
                      <a:pt x="1830613" y="101572"/>
                    </a:cubicBezTo>
                    <a:lnTo>
                      <a:pt x="1830613" y="101572"/>
                    </a:lnTo>
                    <a:cubicBezTo>
                      <a:pt x="1830613" y="157668"/>
                      <a:pt x="1785137" y="203144"/>
                      <a:pt x="1729041" y="203144"/>
                    </a:cubicBezTo>
                    <a:lnTo>
                      <a:pt x="101572" y="203144"/>
                    </a:lnTo>
                    <a:cubicBezTo>
                      <a:pt x="45475" y="203144"/>
                      <a:pt x="0" y="157668"/>
                      <a:pt x="0" y="101572"/>
                    </a:cubicBezTo>
                    <a:lnTo>
                      <a:pt x="0" y="101572"/>
                    </a:lnTo>
                    <a:cubicBezTo>
                      <a:pt x="0" y="45475"/>
                      <a:pt x="45475" y="0"/>
                      <a:pt x="101572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03297">
                      <a:alpha val="0"/>
                    </a:srgbClr>
                  </a:gs>
                  <a:gs pos="100000">
                    <a:srgbClr val="098DED">
                      <a:alpha val="100000"/>
                    </a:srgbClr>
                  </a:gs>
                </a:gsLst>
                <a:lin ang="0"/>
              </a:gradFill>
              <a:ln w="38100" cap="rnd">
                <a:gradFill>
                  <a:gsLst>
                    <a:gs pos="0">
                      <a:srgbClr val="42A9F4">
                        <a:alpha val="100000"/>
                      </a:srgbClr>
                    </a:gs>
                    <a:gs pos="100000">
                      <a:srgbClr val="003297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0"/>
                <a:ext cx="1830613" cy="20314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94"/>
                  </a:lnSpc>
                </a:pPr>
                <a:endParaRPr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4456248" y="5466776"/>
              <a:ext cx="7221053" cy="1028415"/>
              <a:chOff x="0" y="0"/>
              <a:chExt cx="1426381" cy="203144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1426381" cy="203144"/>
              </a:xfrm>
              <a:custGeom>
                <a:avLst/>
                <a:gdLst/>
                <a:ahLst/>
                <a:cxnLst/>
                <a:rect l="l" t="t" r="r" b="b"/>
                <a:pathLst>
                  <a:path w="1426381" h="203144">
                    <a:moveTo>
                      <a:pt x="101572" y="0"/>
                    </a:moveTo>
                    <a:lnTo>
                      <a:pt x="1324809" y="0"/>
                    </a:lnTo>
                    <a:cubicBezTo>
                      <a:pt x="1380906" y="0"/>
                      <a:pt x="1426381" y="45475"/>
                      <a:pt x="1426381" y="101572"/>
                    </a:cubicBezTo>
                    <a:lnTo>
                      <a:pt x="1426381" y="101572"/>
                    </a:lnTo>
                    <a:cubicBezTo>
                      <a:pt x="1426381" y="157668"/>
                      <a:pt x="1380906" y="203144"/>
                      <a:pt x="1324809" y="203144"/>
                    </a:cubicBezTo>
                    <a:lnTo>
                      <a:pt x="101572" y="203144"/>
                    </a:lnTo>
                    <a:cubicBezTo>
                      <a:pt x="45475" y="203144"/>
                      <a:pt x="0" y="157668"/>
                      <a:pt x="0" y="101572"/>
                    </a:cubicBezTo>
                    <a:lnTo>
                      <a:pt x="0" y="101572"/>
                    </a:lnTo>
                    <a:cubicBezTo>
                      <a:pt x="0" y="45475"/>
                      <a:pt x="45475" y="0"/>
                      <a:pt x="101572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03297">
                      <a:alpha val="0"/>
                    </a:srgbClr>
                  </a:gs>
                  <a:gs pos="100000">
                    <a:srgbClr val="098DED">
                      <a:alpha val="100000"/>
                    </a:srgbClr>
                  </a:gs>
                </a:gsLst>
                <a:lin ang="0"/>
              </a:gradFill>
              <a:ln w="38100" cap="rnd">
                <a:gradFill>
                  <a:gsLst>
                    <a:gs pos="0">
                      <a:srgbClr val="42A9F4">
                        <a:alpha val="100000"/>
                      </a:srgbClr>
                    </a:gs>
                    <a:gs pos="100000">
                      <a:srgbClr val="003297">
                        <a:alpha val="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0" y="0"/>
                <a:ext cx="1426381" cy="20314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94"/>
                  </a:lnSpc>
                </a:pPr>
                <a:endParaRPr/>
              </a:p>
            </p:txBody>
          </p:sp>
        </p:grpSp>
        <p:sp>
          <p:nvSpPr>
            <p:cNvPr id="24" name="Freeform 24"/>
            <p:cNvSpPr/>
            <p:nvPr/>
          </p:nvSpPr>
          <p:spPr>
            <a:xfrm rot="5400000">
              <a:off x="786579" y="2299236"/>
              <a:ext cx="5083284" cy="2541642"/>
            </a:xfrm>
            <a:custGeom>
              <a:avLst/>
              <a:gdLst/>
              <a:ahLst/>
              <a:cxnLst/>
              <a:rect l="l" t="t" r="r" b="b"/>
              <a:pathLst>
                <a:path w="5083284" h="2541642">
                  <a:moveTo>
                    <a:pt x="0" y="0"/>
                  </a:moveTo>
                  <a:lnTo>
                    <a:pt x="5083284" y="0"/>
                  </a:lnTo>
                  <a:lnTo>
                    <a:pt x="5083284" y="2541642"/>
                  </a:lnTo>
                  <a:lnTo>
                    <a:pt x="0" y="25416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5" name="AutoShape 25"/>
            <p:cNvSpPr/>
            <p:nvPr/>
          </p:nvSpPr>
          <p:spPr>
            <a:xfrm flipV="1">
              <a:off x="3178510" y="514207"/>
              <a:ext cx="602331" cy="781871"/>
            </a:xfrm>
            <a:prstGeom prst="line">
              <a:avLst/>
            </a:prstGeom>
            <a:ln w="50800" cap="flat">
              <a:solidFill>
                <a:srgbClr val="42A9F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6" name="AutoShape 26"/>
            <p:cNvSpPr/>
            <p:nvPr/>
          </p:nvSpPr>
          <p:spPr>
            <a:xfrm>
              <a:off x="4599042" y="3348011"/>
              <a:ext cx="534172" cy="0"/>
            </a:xfrm>
            <a:prstGeom prst="line">
              <a:avLst/>
            </a:prstGeom>
            <a:ln w="50800" cap="flat">
              <a:solidFill>
                <a:srgbClr val="42A9F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7" name="AutoShape 27"/>
            <p:cNvSpPr/>
            <p:nvPr/>
          </p:nvSpPr>
          <p:spPr>
            <a:xfrm>
              <a:off x="3547497" y="5627457"/>
              <a:ext cx="908751" cy="353526"/>
            </a:xfrm>
            <a:prstGeom prst="line">
              <a:avLst/>
            </a:prstGeom>
            <a:ln w="50800" cap="flat">
              <a:solidFill>
                <a:srgbClr val="42A9F4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1976120" y="947135"/>
              <a:ext cx="162560" cy="162560"/>
              <a:chOff x="0" y="0"/>
              <a:chExt cx="812800" cy="8128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42A9F4"/>
              </a:solidFill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94"/>
                  </a:lnSpc>
                </a:pPr>
                <a:endParaRPr/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4233835" y="260369"/>
              <a:ext cx="5147132" cy="459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2400" b="1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CNN-Based Custom Model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935131" y="3094173"/>
              <a:ext cx="9384653" cy="459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2400" b="1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ResNet50-Based Transfer Learning Model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101836" y="5694193"/>
              <a:ext cx="7601198" cy="459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2400" b="1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YOLOv11m-cls Model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-284269" y="58593"/>
            <a:ext cx="18572269" cy="10460720"/>
            <a:chOff x="0" y="0"/>
            <a:chExt cx="4891462" cy="275508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91462" cy="2755087"/>
            </a:xfrm>
            <a:custGeom>
              <a:avLst/>
              <a:gdLst/>
              <a:ahLst/>
              <a:cxnLst/>
              <a:rect l="l" t="t" r="r" b="b"/>
              <a:pathLst>
                <a:path w="4891462" h="2755087">
                  <a:moveTo>
                    <a:pt x="0" y="0"/>
                  </a:moveTo>
                  <a:lnTo>
                    <a:pt x="4891462" y="0"/>
                  </a:lnTo>
                  <a:lnTo>
                    <a:pt x="4891462" y="2755087"/>
                  </a:lnTo>
                  <a:lnTo>
                    <a:pt x="0" y="2755087"/>
                  </a:lnTo>
                  <a:close/>
                </a:path>
              </a:pathLst>
            </a:custGeom>
            <a:gradFill rotWithShape="1">
              <a:gsLst>
                <a:gs pos="0">
                  <a:srgbClr val="003297">
                    <a:alpha val="0"/>
                  </a:srgbClr>
                </a:gs>
                <a:gs pos="100000">
                  <a:srgbClr val="003297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91462" cy="27931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898397" y="6045726"/>
            <a:ext cx="9913650" cy="3025883"/>
            <a:chOff x="0" y="0"/>
            <a:chExt cx="2611002" cy="7969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611002" cy="796940"/>
            </a:xfrm>
            <a:custGeom>
              <a:avLst/>
              <a:gdLst/>
              <a:ahLst/>
              <a:cxnLst/>
              <a:rect l="l" t="t" r="r" b="b"/>
              <a:pathLst>
                <a:path w="2611002" h="796940">
                  <a:moveTo>
                    <a:pt x="18742" y="0"/>
                  </a:moveTo>
                  <a:lnTo>
                    <a:pt x="2592260" y="0"/>
                  </a:lnTo>
                  <a:cubicBezTo>
                    <a:pt x="2597231" y="0"/>
                    <a:pt x="2601998" y="1975"/>
                    <a:pt x="2605513" y="5490"/>
                  </a:cubicBezTo>
                  <a:cubicBezTo>
                    <a:pt x="2609028" y="9004"/>
                    <a:pt x="2611002" y="13772"/>
                    <a:pt x="2611002" y="18742"/>
                  </a:cubicBezTo>
                  <a:lnTo>
                    <a:pt x="2611002" y="778198"/>
                  </a:lnTo>
                  <a:cubicBezTo>
                    <a:pt x="2611002" y="783169"/>
                    <a:pt x="2609028" y="787936"/>
                    <a:pt x="2605513" y="791451"/>
                  </a:cubicBezTo>
                  <a:cubicBezTo>
                    <a:pt x="2601998" y="794966"/>
                    <a:pt x="2597231" y="796940"/>
                    <a:pt x="2592260" y="796940"/>
                  </a:cubicBezTo>
                  <a:lnTo>
                    <a:pt x="18742" y="796940"/>
                  </a:lnTo>
                  <a:cubicBezTo>
                    <a:pt x="13772" y="796940"/>
                    <a:pt x="9004" y="794966"/>
                    <a:pt x="5490" y="791451"/>
                  </a:cubicBezTo>
                  <a:cubicBezTo>
                    <a:pt x="1975" y="787936"/>
                    <a:pt x="0" y="783169"/>
                    <a:pt x="0" y="778198"/>
                  </a:cubicBezTo>
                  <a:lnTo>
                    <a:pt x="0" y="18742"/>
                  </a:lnTo>
                  <a:cubicBezTo>
                    <a:pt x="0" y="13772"/>
                    <a:pt x="1975" y="9004"/>
                    <a:pt x="5490" y="5490"/>
                  </a:cubicBezTo>
                  <a:cubicBezTo>
                    <a:pt x="9004" y="1975"/>
                    <a:pt x="13772" y="0"/>
                    <a:pt x="1874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297">
                    <a:alpha val="0"/>
                  </a:srgbClr>
                </a:gs>
                <a:gs pos="100000">
                  <a:srgbClr val="098DED">
                    <a:alpha val="100000"/>
                  </a:srgbClr>
                </a:gs>
              </a:gsLst>
              <a:lin ang="0"/>
            </a:gradFill>
            <a:ln w="38100" cap="rnd">
              <a:gradFill>
                <a:gsLst>
                  <a:gs pos="0">
                    <a:srgbClr val="42A9F4">
                      <a:alpha val="100000"/>
                    </a:srgbClr>
                  </a:gs>
                  <a:gs pos="100000">
                    <a:srgbClr val="003297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2611002" cy="7969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4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1005279"/>
            <a:ext cx="16230600" cy="831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00"/>
              </a:lnSpc>
            </a:pPr>
            <a:r>
              <a:rPr lang="en-US" sz="6100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WHY THREE DIFFERENT MODELS WERE USED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634296" y="2939152"/>
            <a:ext cx="9913650" cy="2773199"/>
            <a:chOff x="0" y="0"/>
            <a:chExt cx="2611002" cy="73039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611002" cy="730390"/>
            </a:xfrm>
            <a:custGeom>
              <a:avLst/>
              <a:gdLst/>
              <a:ahLst/>
              <a:cxnLst/>
              <a:rect l="l" t="t" r="r" b="b"/>
              <a:pathLst>
                <a:path w="2611002" h="730390">
                  <a:moveTo>
                    <a:pt x="18742" y="0"/>
                  </a:moveTo>
                  <a:lnTo>
                    <a:pt x="2592260" y="0"/>
                  </a:lnTo>
                  <a:cubicBezTo>
                    <a:pt x="2597231" y="0"/>
                    <a:pt x="2601998" y="1975"/>
                    <a:pt x="2605513" y="5490"/>
                  </a:cubicBezTo>
                  <a:cubicBezTo>
                    <a:pt x="2609028" y="9004"/>
                    <a:pt x="2611002" y="13772"/>
                    <a:pt x="2611002" y="18742"/>
                  </a:cubicBezTo>
                  <a:lnTo>
                    <a:pt x="2611002" y="711647"/>
                  </a:lnTo>
                  <a:cubicBezTo>
                    <a:pt x="2611002" y="716618"/>
                    <a:pt x="2609028" y="721385"/>
                    <a:pt x="2605513" y="724900"/>
                  </a:cubicBezTo>
                  <a:cubicBezTo>
                    <a:pt x="2601998" y="728415"/>
                    <a:pt x="2597231" y="730390"/>
                    <a:pt x="2592260" y="730390"/>
                  </a:cubicBezTo>
                  <a:lnTo>
                    <a:pt x="18742" y="730390"/>
                  </a:lnTo>
                  <a:cubicBezTo>
                    <a:pt x="13772" y="730390"/>
                    <a:pt x="9004" y="728415"/>
                    <a:pt x="5490" y="724900"/>
                  </a:cubicBezTo>
                  <a:cubicBezTo>
                    <a:pt x="1975" y="721385"/>
                    <a:pt x="0" y="716618"/>
                    <a:pt x="0" y="711647"/>
                  </a:cubicBezTo>
                  <a:lnTo>
                    <a:pt x="0" y="18742"/>
                  </a:lnTo>
                  <a:cubicBezTo>
                    <a:pt x="0" y="13772"/>
                    <a:pt x="1975" y="9004"/>
                    <a:pt x="5490" y="5490"/>
                  </a:cubicBezTo>
                  <a:cubicBezTo>
                    <a:pt x="9004" y="1975"/>
                    <a:pt x="13772" y="0"/>
                    <a:pt x="1874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297">
                    <a:alpha val="0"/>
                  </a:srgbClr>
                </a:gs>
                <a:gs pos="100000">
                  <a:srgbClr val="098DED">
                    <a:alpha val="100000"/>
                  </a:srgbClr>
                </a:gs>
              </a:gsLst>
              <a:lin ang="0"/>
            </a:gradFill>
            <a:ln w="38100" cap="rnd">
              <a:gradFill>
                <a:gsLst>
                  <a:gs pos="0">
                    <a:srgbClr val="42A9F4">
                      <a:alpha val="100000"/>
                    </a:srgbClr>
                  </a:gs>
                  <a:gs pos="100000">
                    <a:srgbClr val="003297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2611002" cy="7303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4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202787" y="3350373"/>
            <a:ext cx="9345159" cy="2157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24" lvl="1" indent="-302262" algn="l">
              <a:lnSpc>
                <a:spcPts val="2800"/>
              </a:lnSpc>
              <a:buFont typeface="Arial"/>
              <a:buChar char="•"/>
            </a:pPr>
            <a:r>
              <a:rPr lang="en-US" sz="2800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Training from scratch</a:t>
            </a:r>
          </a:p>
          <a:p>
            <a:pPr algn="l">
              <a:lnSpc>
                <a:spcPts val="2800"/>
              </a:lnSpc>
            </a:pPr>
            <a:endParaRPr lang="en-US" sz="2800" b="1">
              <a:solidFill>
                <a:srgbClr val="FFFFFF"/>
              </a:solidFill>
              <a:latin typeface="Roboto Bold"/>
              <a:ea typeface="Roboto Bold"/>
              <a:cs typeface="Roboto Bold"/>
              <a:sym typeface="Roboto Bold"/>
            </a:endParaRPr>
          </a:p>
          <a:p>
            <a:pPr marL="604524" lvl="1" indent="-302262" algn="l">
              <a:lnSpc>
                <a:spcPts val="2800"/>
              </a:lnSpc>
              <a:buFont typeface="Arial"/>
              <a:buChar char="•"/>
            </a:pPr>
            <a:r>
              <a:rPr lang="en-US" sz="2800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Transfer learning</a:t>
            </a:r>
          </a:p>
          <a:p>
            <a:pPr algn="l">
              <a:lnSpc>
                <a:spcPts val="2800"/>
              </a:lnSpc>
            </a:pPr>
            <a:endParaRPr lang="en-US" sz="2800" b="1">
              <a:solidFill>
                <a:srgbClr val="FFFFFF"/>
              </a:solidFill>
              <a:latin typeface="Roboto Bold"/>
              <a:ea typeface="Roboto Bold"/>
              <a:cs typeface="Roboto Bold"/>
              <a:sym typeface="Roboto Bold"/>
            </a:endParaRPr>
          </a:p>
          <a:p>
            <a:pPr marL="604524" lvl="1" indent="-302262" algn="l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800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Advanced mul</a:t>
            </a:r>
            <a:r>
              <a:rPr lang="en-US" sz="2800" b="1" u="none" strike="noStrik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ti-scale feature learning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endParaRPr lang="en-US" sz="2800" b="1" u="none" strike="noStrike">
              <a:solidFill>
                <a:srgbClr val="FFFFFF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28700" y="2214227"/>
            <a:ext cx="6600829" cy="385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9"/>
              </a:lnSpc>
              <a:spcBef>
                <a:spcPct val="0"/>
              </a:spcBef>
            </a:pPr>
            <a:r>
              <a:rPr lang="en-US" sz="2799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To compare different learning strategies: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687171" y="5327053"/>
            <a:ext cx="6600829" cy="385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9"/>
              </a:lnSpc>
              <a:spcBef>
                <a:spcPct val="0"/>
              </a:spcBef>
            </a:pPr>
            <a:r>
              <a:rPr lang="en-US" sz="2799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To analyze: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182642" y="6415667"/>
            <a:ext cx="9345159" cy="232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3" lvl="1" indent="-323852" algn="l">
              <a:lnSpc>
                <a:spcPts val="30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Accuracy</a:t>
            </a:r>
          </a:p>
          <a:p>
            <a:pPr algn="l">
              <a:lnSpc>
                <a:spcPts val="3000"/>
              </a:lnSpc>
            </a:pPr>
            <a:endParaRPr lang="en-US" sz="3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647703" lvl="1" indent="-323852" algn="l">
              <a:lnSpc>
                <a:spcPts val="30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Generaliza</a:t>
            </a:r>
            <a:r>
              <a:rPr lang="en-US" sz="3000" u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tion capability</a:t>
            </a:r>
          </a:p>
          <a:p>
            <a:pPr algn="l">
              <a:lnSpc>
                <a:spcPts val="3000"/>
              </a:lnSpc>
              <a:spcBef>
                <a:spcPct val="0"/>
              </a:spcBef>
            </a:pPr>
            <a:endParaRPr lang="en-US" sz="30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647703" lvl="1" indent="-323852" algn="l">
              <a:lnSpc>
                <a:spcPts val="30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u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Overfitting behavior</a:t>
            </a:r>
          </a:p>
          <a:p>
            <a:pPr algn="l">
              <a:lnSpc>
                <a:spcPts val="3000"/>
              </a:lnSpc>
              <a:spcBef>
                <a:spcPct val="0"/>
              </a:spcBef>
            </a:pPr>
            <a:endParaRPr lang="en-US" sz="30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729028" y="9443083"/>
            <a:ext cx="11780850" cy="385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9"/>
              </a:lnSpc>
              <a:spcBef>
                <a:spcPct val="0"/>
              </a:spcBef>
            </a:pPr>
            <a:r>
              <a:rPr lang="en-US" sz="2799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To identify the best-performing model for real-world deployment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0" y="0"/>
            <a:ext cx="18288000" cy="10287000"/>
            <a:chOff x="0" y="0"/>
            <a:chExt cx="481659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03297">
                    <a:alpha val="0"/>
                  </a:srgbClr>
                </a:gs>
                <a:gs pos="100000">
                  <a:srgbClr val="003297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92262" y="2607267"/>
            <a:ext cx="6673163" cy="5270333"/>
            <a:chOff x="0" y="0"/>
            <a:chExt cx="1757541" cy="138807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57541" cy="1388071"/>
            </a:xfrm>
            <a:custGeom>
              <a:avLst/>
              <a:gdLst/>
              <a:ahLst/>
              <a:cxnLst/>
              <a:rect l="l" t="t" r="r" b="b"/>
              <a:pathLst>
                <a:path w="1757541" h="1388071">
                  <a:moveTo>
                    <a:pt x="27844" y="0"/>
                  </a:moveTo>
                  <a:lnTo>
                    <a:pt x="1729697" y="0"/>
                  </a:lnTo>
                  <a:cubicBezTo>
                    <a:pt x="1745075" y="0"/>
                    <a:pt x="1757541" y="12466"/>
                    <a:pt x="1757541" y="27844"/>
                  </a:cubicBezTo>
                  <a:lnTo>
                    <a:pt x="1757541" y="1360227"/>
                  </a:lnTo>
                  <a:cubicBezTo>
                    <a:pt x="1757541" y="1375605"/>
                    <a:pt x="1745075" y="1388071"/>
                    <a:pt x="1729697" y="1388071"/>
                  </a:cubicBezTo>
                  <a:lnTo>
                    <a:pt x="27844" y="1388071"/>
                  </a:lnTo>
                  <a:cubicBezTo>
                    <a:pt x="12466" y="1388071"/>
                    <a:pt x="0" y="1375605"/>
                    <a:pt x="0" y="1360227"/>
                  </a:cubicBezTo>
                  <a:lnTo>
                    <a:pt x="0" y="27844"/>
                  </a:lnTo>
                  <a:cubicBezTo>
                    <a:pt x="0" y="12466"/>
                    <a:pt x="12466" y="0"/>
                    <a:pt x="2784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297">
                    <a:alpha val="0"/>
                  </a:srgbClr>
                </a:gs>
                <a:gs pos="100000">
                  <a:srgbClr val="098DED">
                    <a:alpha val="100000"/>
                  </a:srgbClr>
                </a:gs>
              </a:gsLst>
              <a:lin ang="0"/>
            </a:gradFill>
            <a:ln w="38100" cap="rnd">
              <a:gradFill>
                <a:gsLst>
                  <a:gs pos="0">
                    <a:srgbClr val="42A9F4">
                      <a:alpha val="100000"/>
                    </a:srgbClr>
                  </a:gs>
                  <a:gs pos="100000">
                    <a:srgbClr val="003297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1757541" cy="13880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4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1393537" y="1270187"/>
            <a:ext cx="6336469" cy="6934576"/>
          </a:xfrm>
          <a:custGeom>
            <a:avLst/>
            <a:gdLst/>
            <a:ahLst/>
            <a:cxnLst/>
            <a:rect l="l" t="t" r="r" b="b"/>
            <a:pathLst>
              <a:path w="6336469" h="6934576">
                <a:moveTo>
                  <a:pt x="0" y="0"/>
                </a:moveTo>
                <a:lnTo>
                  <a:pt x="6336469" y="0"/>
                </a:lnTo>
                <a:lnTo>
                  <a:pt x="6336469" y="6934576"/>
                </a:lnTo>
                <a:lnTo>
                  <a:pt x="0" y="69345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639194" y="902202"/>
            <a:ext cx="8772807" cy="831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00"/>
              </a:lnSpc>
            </a:pPr>
            <a:r>
              <a:rPr lang="en-US" sz="6100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DATASET DESCRIPTION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94045" y="2792412"/>
            <a:ext cx="9345159" cy="4740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6" lvl="1" indent="-269878" algn="l">
              <a:lnSpc>
                <a:spcPts val="250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Total images: 8,400</a:t>
            </a:r>
          </a:p>
          <a:p>
            <a:pPr algn="l">
              <a:lnSpc>
                <a:spcPts val="2500"/>
              </a:lnSpc>
            </a:pPr>
            <a:endParaRPr lang="en-US" sz="2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539756" lvl="1" indent="-269878" algn="l">
              <a:lnSpc>
                <a:spcPts val="250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Emotion classes (7 total):</a:t>
            </a:r>
          </a:p>
          <a:p>
            <a:pPr marL="539756" lvl="1" indent="-269878" algn="l">
              <a:lnSpc>
                <a:spcPts val="250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Angry</a:t>
            </a:r>
          </a:p>
          <a:p>
            <a:pPr marL="539756" lvl="1" indent="-269878" algn="l">
              <a:lnSpc>
                <a:spcPts val="250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Disgust</a:t>
            </a:r>
          </a:p>
          <a:p>
            <a:pPr marL="539756" lvl="1" indent="-269878" algn="l">
              <a:lnSpc>
                <a:spcPts val="250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Fear</a:t>
            </a:r>
          </a:p>
          <a:p>
            <a:pPr marL="539756" lvl="1" indent="-269878" algn="l">
              <a:lnSpc>
                <a:spcPts val="250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Happy</a:t>
            </a:r>
          </a:p>
          <a:p>
            <a:pPr marL="539756" lvl="1" indent="-269878" algn="l">
              <a:lnSpc>
                <a:spcPts val="250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Neutral</a:t>
            </a:r>
          </a:p>
          <a:p>
            <a:pPr marL="539756" lvl="1" indent="-269878" algn="l">
              <a:lnSpc>
                <a:spcPts val="250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Sad</a:t>
            </a:r>
          </a:p>
          <a:p>
            <a:pPr marL="539756" lvl="1" indent="-269878" algn="l">
              <a:lnSpc>
                <a:spcPts val="250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Surprise</a:t>
            </a:r>
          </a:p>
          <a:p>
            <a:pPr algn="l">
              <a:lnSpc>
                <a:spcPts val="2500"/>
              </a:lnSpc>
            </a:pPr>
            <a:endParaRPr lang="en-US" sz="2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539756" lvl="1" indent="-269878" algn="l">
              <a:lnSpc>
                <a:spcPts val="250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Images contain:</a:t>
            </a:r>
          </a:p>
          <a:p>
            <a:pPr marL="539756" lvl="1" indent="-269878" algn="l">
              <a:lnSpc>
                <a:spcPts val="2500"/>
              </a:lnSpc>
              <a:spcBef>
                <a:spcPct val="0"/>
              </a:spcBef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Frontal facial express</a:t>
            </a:r>
            <a:r>
              <a:rPr lang="en-US" sz="2500" u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ions</a:t>
            </a:r>
          </a:p>
          <a:p>
            <a:pPr marL="539756" lvl="1" indent="-269878" algn="l">
              <a:lnSpc>
                <a:spcPts val="2500"/>
              </a:lnSpc>
              <a:spcBef>
                <a:spcPct val="0"/>
              </a:spcBef>
              <a:buFont typeface="Arial"/>
              <a:buChar char="•"/>
            </a:pPr>
            <a:r>
              <a:rPr lang="en-US" sz="2500" u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Different lighting and pose variations</a:t>
            </a:r>
          </a:p>
          <a:p>
            <a:pPr algn="l">
              <a:lnSpc>
                <a:spcPts val="2500"/>
              </a:lnSpc>
              <a:spcBef>
                <a:spcPct val="0"/>
              </a:spcBef>
            </a:pPr>
            <a:endParaRPr lang="en-US" sz="25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87049" y="-44701"/>
            <a:ext cx="6425499" cy="10287000"/>
            <a:chOff x="0" y="0"/>
            <a:chExt cx="1692312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92312" cy="2709333"/>
            </a:xfrm>
            <a:custGeom>
              <a:avLst/>
              <a:gdLst/>
              <a:ahLst/>
              <a:cxnLst/>
              <a:rect l="l" t="t" r="r" b="b"/>
              <a:pathLst>
                <a:path w="1692312" h="2709333">
                  <a:moveTo>
                    <a:pt x="0" y="0"/>
                  </a:moveTo>
                  <a:lnTo>
                    <a:pt x="1692312" y="0"/>
                  </a:lnTo>
                  <a:lnTo>
                    <a:pt x="169231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03297">
                    <a:alpha val="100000"/>
                  </a:srgbClr>
                </a:gs>
                <a:gs pos="100000">
                  <a:srgbClr val="003297">
                    <a:alpha val="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692312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65245" y="2488656"/>
            <a:ext cx="6228228" cy="771311"/>
            <a:chOff x="0" y="0"/>
            <a:chExt cx="1640356" cy="20314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40356" cy="203144"/>
            </a:xfrm>
            <a:custGeom>
              <a:avLst/>
              <a:gdLst/>
              <a:ahLst/>
              <a:cxnLst/>
              <a:rect l="l" t="t" r="r" b="b"/>
              <a:pathLst>
                <a:path w="1640356" h="203144">
                  <a:moveTo>
                    <a:pt x="101572" y="0"/>
                  </a:moveTo>
                  <a:lnTo>
                    <a:pt x="1538785" y="0"/>
                  </a:lnTo>
                  <a:cubicBezTo>
                    <a:pt x="1594881" y="0"/>
                    <a:pt x="1640356" y="45475"/>
                    <a:pt x="1640356" y="101572"/>
                  </a:cubicBezTo>
                  <a:lnTo>
                    <a:pt x="1640356" y="101572"/>
                  </a:lnTo>
                  <a:cubicBezTo>
                    <a:pt x="1640356" y="157668"/>
                    <a:pt x="1594881" y="203144"/>
                    <a:pt x="1538785" y="203144"/>
                  </a:cubicBezTo>
                  <a:lnTo>
                    <a:pt x="101572" y="203144"/>
                  </a:lnTo>
                  <a:cubicBezTo>
                    <a:pt x="45475" y="203144"/>
                    <a:pt x="0" y="157668"/>
                    <a:pt x="0" y="101572"/>
                  </a:cubicBezTo>
                  <a:lnTo>
                    <a:pt x="0" y="101572"/>
                  </a:lnTo>
                  <a:cubicBezTo>
                    <a:pt x="0" y="45475"/>
                    <a:pt x="45475" y="0"/>
                    <a:pt x="10157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297">
                    <a:alpha val="0"/>
                  </a:srgbClr>
                </a:gs>
                <a:gs pos="100000">
                  <a:srgbClr val="098DED">
                    <a:alpha val="100000"/>
                  </a:srgbClr>
                </a:gs>
              </a:gsLst>
              <a:lin ang="0"/>
            </a:gradFill>
            <a:ln w="38100" cap="rnd">
              <a:gradFill>
                <a:gsLst>
                  <a:gs pos="0">
                    <a:srgbClr val="42A9F4">
                      <a:alpha val="100000"/>
                    </a:srgbClr>
                  </a:gs>
                  <a:gs pos="100000">
                    <a:srgbClr val="003297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1640356" cy="2031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94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1152525"/>
            <a:ext cx="7235138" cy="973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DATASET SPLIT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865245" y="3622638"/>
            <a:ext cx="6228228" cy="771311"/>
            <a:chOff x="0" y="0"/>
            <a:chExt cx="1640356" cy="20314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40356" cy="203144"/>
            </a:xfrm>
            <a:custGeom>
              <a:avLst/>
              <a:gdLst/>
              <a:ahLst/>
              <a:cxnLst/>
              <a:rect l="l" t="t" r="r" b="b"/>
              <a:pathLst>
                <a:path w="1640356" h="203144">
                  <a:moveTo>
                    <a:pt x="101572" y="0"/>
                  </a:moveTo>
                  <a:lnTo>
                    <a:pt x="1538785" y="0"/>
                  </a:lnTo>
                  <a:cubicBezTo>
                    <a:pt x="1594881" y="0"/>
                    <a:pt x="1640356" y="45475"/>
                    <a:pt x="1640356" y="101572"/>
                  </a:cubicBezTo>
                  <a:lnTo>
                    <a:pt x="1640356" y="101572"/>
                  </a:lnTo>
                  <a:cubicBezTo>
                    <a:pt x="1640356" y="157668"/>
                    <a:pt x="1594881" y="203144"/>
                    <a:pt x="1538785" y="203144"/>
                  </a:cubicBezTo>
                  <a:lnTo>
                    <a:pt x="101572" y="203144"/>
                  </a:lnTo>
                  <a:cubicBezTo>
                    <a:pt x="45475" y="203144"/>
                    <a:pt x="0" y="157668"/>
                    <a:pt x="0" y="101572"/>
                  </a:cubicBezTo>
                  <a:lnTo>
                    <a:pt x="0" y="101572"/>
                  </a:lnTo>
                  <a:cubicBezTo>
                    <a:pt x="0" y="45475"/>
                    <a:pt x="45475" y="0"/>
                    <a:pt x="10157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297">
                    <a:alpha val="0"/>
                  </a:srgbClr>
                </a:gs>
                <a:gs pos="100000">
                  <a:srgbClr val="098DED">
                    <a:alpha val="100000"/>
                  </a:srgbClr>
                </a:gs>
              </a:gsLst>
              <a:lin ang="0"/>
            </a:gradFill>
            <a:ln w="38100" cap="rnd">
              <a:gradFill>
                <a:gsLst>
                  <a:gs pos="0">
                    <a:srgbClr val="42A9F4">
                      <a:alpha val="100000"/>
                    </a:srgbClr>
                  </a:gs>
                  <a:gs pos="100000">
                    <a:srgbClr val="003297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1640356" cy="2031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94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988124" y="2700638"/>
            <a:ext cx="4050326" cy="333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00"/>
              </a:lnSpc>
              <a:spcBef>
                <a:spcPct val="0"/>
              </a:spcBef>
            </a:pPr>
            <a:r>
              <a:rPr lang="en-US" sz="2600" b="1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Training set: 80%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50830" y="3831466"/>
            <a:ext cx="4397570" cy="333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00"/>
              </a:lnSpc>
              <a:spcBef>
                <a:spcPct val="0"/>
              </a:spcBef>
            </a:pPr>
            <a:r>
              <a:rPr lang="en-US" sz="2600" b="1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Validation set: 10%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865245" y="4927349"/>
            <a:ext cx="6228228" cy="771311"/>
            <a:chOff x="0" y="0"/>
            <a:chExt cx="1640356" cy="20314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640356" cy="203144"/>
            </a:xfrm>
            <a:custGeom>
              <a:avLst/>
              <a:gdLst/>
              <a:ahLst/>
              <a:cxnLst/>
              <a:rect l="l" t="t" r="r" b="b"/>
              <a:pathLst>
                <a:path w="1640356" h="203144">
                  <a:moveTo>
                    <a:pt x="101572" y="0"/>
                  </a:moveTo>
                  <a:lnTo>
                    <a:pt x="1538785" y="0"/>
                  </a:lnTo>
                  <a:cubicBezTo>
                    <a:pt x="1594881" y="0"/>
                    <a:pt x="1640356" y="45475"/>
                    <a:pt x="1640356" y="101572"/>
                  </a:cubicBezTo>
                  <a:lnTo>
                    <a:pt x="1640356" y="101572"/>
                  </a:lnTo>
                  <a:cubicBezTo>
                    <a:pt x="1640356" y="157668"/>
                    <a:pt x="1594881" y="203144"/>
                    <a:pt x="1538785" y="203144"/>
                  </a:cubicBezTo>
                  <a:lnTo>
                    <a:pt x="101572" y="203144"/>
                  </a:lnTo>
                  <a:cubicBezTo>
                    <a:pt x="45475" y="203144"/>
                    <a:pt x="0" y="157668"/>
                    <a:pt x="0" y="101572"/>
                  </a:cubicBezTo>
                  <a:lnTo>
                    <a:pt x="0" y="101572"/>
                  </a:lnTo>
                  <a:cubicBezTo>
                    <a:pt x="0" y="45475"/>
                    <a:pt x="45475" y="0"/>
                    <a:pt x="10157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297">
                    <a:alpha val="0"/>
                  </a:srgbClr>
                </a:gs>
                <a:gs pos="100000">
                  <a:srgbClr val="098DED">
                    <a:alpha val="100000"/>
                  </a:srgbClr>
                </a:gs>
              </a:gsLst>
              <a:lin ang="0"/>
            </a:gradFill>
            <a:ln w="38100" cap="rnd">
              <a:gradFill>
                <a:gsLst>
                  <a:gs pos="0">
                    <a:srgbClr val="42A9F4">
                      <a:alpha val="100000"/>
                    </a:srgbClr>
                  </a:gs>
                  <a:gs pos="100000">
                    <a:srgbClr val="003297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1640356" cy="2031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94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65245" y="6232060"/>
            <a:ext cx="6228228" cy="771311"/>
            <a:chOff x="0" y="0"/>
            <a:chExt cx="1640356" cy="20314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640356" cy="203144"/>
            </a:xfrm>
            <a:custGeom>
              <a:avLst/>
              <a:gdLst/>
              <a:ahLst/>
              <a:cxnLst/>
              <a:rect l="l" t="t" r="r" b="b"/>
              <a:pathLst>
                <a:path w="1640356" h="203144">
                  <a:moveTo>
                    <a:pt x="101572" y="0"/>
                  </a:moveTo>
                  <a:lnTo>
                    <a:pt x="1538785" y="0"/>
                  </a:lnTo>
                  <a:cubicBezTo>
                    <a:pt x="1594881" y="0"/>
                    <a:pt x="1640356" y="45475"/>
                    <a:pt x="1640356" y="101572"/>
                  </a:cubicBezTo>
                  <a:lnTo>
                    <a:pt x="1640356" y="101572"/>
                  </a:lnTo>
                  <a:cubicBezTo>
                    <a:pt x="1640356" y="157668"/>
                    <a:pt x="1594881" y="203144"/>
                    <a:pt x="1538785" y="203144"/>
                  </a:cubicBezTo>
                  <a:lnTo>
                    <a:pt x="101572" y="203144"/>
                  </a:lnTo>
                  <a:cubicBezTo>
                    <a:pt x="45475" y="203144"/>
                    <a:pt x="0" y="157668"/>
                    <a:pt x="0" y="101572"/>
                  </a:cubicBezTo>
                  <a:lnTo>
                    <a:pt x="0" y="101572"/>
                  </a:lnTo>
                  <a:cubicBezTo>
                    <a:pt x="0" y="45475"/>
                    <a:pt x="45475" y="0"/>
                    <a:pt x="10157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297">
                    <a:alpha val="0"/>
                  </a:srgbClr>
                </a:gs>
                <a:gs pos="100000">
                  <a:srgbClr val="098DED">
                    <a:alpha val="100000"/>
                  </a:srgbClr>
                </a:gs>
              </a:gsLst>
              <a:lin ang="0"/>
            </a:gradFill>
            <a:ln w="38100" cap="rnd">
              <a:gradFill>
                <a:gsLst>
                  <a:gs pos="0">
                    <a:srgbClr val="42A9F4">
                      <a:alpha val="100000"/>
                    </a:srgbClr>
                  </a:gs>
                  <a:gs pos="100000">
                    <a:srgbClr val="003297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0"/>
              <a:ext cx="1640356" cy="2031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94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65245" y="7536771"/>
            <a:ext cx="6228228" cy="771311"/>
            <a:chOff x="0" y="0"/>
            <a:chExt cx="1640356" cy="20314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640356" cy="203144"/>
            </a:xfrm>
            <a:custGeom>
              <a:avLst/>
              <a:gdLst/>
              <a:ahLst/>
              <a:cxnLst/>
              <a:rect l="l" t="t" r="r" b="b"/>
              <a:pathLst>
                <a:path w="1640356" h="203144">
                  <a:moveTo>
                    <a:pt x="101572" y="0"/>
                  </a:moveTo>
                  <a:lnTo>
                    <a:pt x="1538785" y="0"/>
                  </a:lnTo>
                  <a:cubicBezTo>
                    <a:pt x="1594881" y="0"/>
                    <a:pt x="1640356" y="45475"/>
                    <a:pt x="1640356" y="101572"/>
                  </a:cubicBezTo>
                  <a:lnTo>
                    <a:pt x="1640356" y="101572"/>
                  </a:lnTo>
                  <a:cubicBezTo>
                    <a:pt x="1640356" y="157668"/>
                    <a:pt x="1594881" y="203144"/>
                    <a:pt x="1538785" y="203144"/>
                  </a:cubicBezTo>
                  <a:lnTo>
                    <a:pt x="101572" y="203144"/>
                  </a:lnTo>
                  <a:cubicBezTo>
                    <a:pt x="45475" y="203144"/>
                    <a:pt x="0" y="157668"/>
                    <a:pt x="0" y="101572"/>
                  </a:cubicBezTo>
                  <a:lnTo>
                    <a:pt x="0" y="101572"/>
                  </a:lnTo>
                  <a:cubicBezTo>
                    <a:pt x="0" y="45475"/>
                    <a:pt x="45475" y="0"/>
                    <a:pt x="10157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297">
                    <a:alpha val="0"/>
                  </a:srgbClr>
                </a:gs>
                <a:gs pos="100000">
                  <a:srgbClr val="098DED">
                    <a:alpha val="100000"/>
                  </a:srgbClr>
                </a:gs>
              </a:gsLst>
              <a:lin ang="0"/>
            </a:gradFill>
            <a:ln w="38100" cap="rnd">
              <a:gradFill>
                <a:gsLst>
                  <a:gs pos="0">
                    <a:srgbClr val="42A9F4">
                      <a:alpha val="100000"/>
                    </a:srgbClr>
                  </a:gs>
                  <a:gs pos="100000">
                    <a:srgbClr val="003297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0"/>
              <a:ext cx="1640356" cy="2031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94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2125270" y="5136899"/>
            <a:ext cx="3913180" cy="333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00"/>
              </a:lnSpc>
              <a:spcBef>
                <a:spcPct val="0"/>
              </a:spcBef>
            </a:pPr>
            <a:r>
              <a:rPr lang="en-US" sz="2600" b="1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Test set: 10%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86072" y="6441610"/>
            <a:ext cx="5671928" cy="333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00"/>
              </a:lnSpc>
              <a:spcBef>
                <a:spcPct val="0"/>
              </a:spcBef>
            </a:pPr>
            <a:r>
              <a:rPr lang="en-US" sz="2600" b="1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Same split used for all three models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86268" y="7746321"/>
            <a:ext cx="6382800" cy="351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0"/>
              </a:lnSpc>
              <a:spcBef>
                <a:spcPct val="0"/>
              </a:spcBef>
            </a:pPr>
            <a:r>
              <a:rPr lang="en-US" sz="2600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Ensures fair and unbiased comparison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0" y="-202468"/>
            <a:ext cx="18288000" cy="7836192"/>
            <a:chOff x="0" y="0"/>
            <a:chExt cx="4816593" cy="206385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063853"/>
            </a:xfrm>
            <a:custGeom>
              <a:avLst/>
              <a:gdLst/>
              <a:ahLst/>
              <a:cxnLst/>
              <a:rect l="l" t="t" r="r" b="b"/>
              <a:pathLst>
                <a:path w="4816592" h="2063853">
                  <a:moveTo>
                    <a:pt x="0" y="0"/>
                  </a:moveTo>
                  <a:lnTo>
                    <a:pt x="4816592" y="0"/>
                  </a:lnTo>
                  <a:lnTo>
                    <a:pt x="4816592" y="2063853"/>
                  </a:lnTo>
                  <a:lnTo>
                    <a:pt x="0" y="2063853"/>
                  </a:lnTo>
                  <a:close/>
                </a:path>
              </a:pathLst>
            </a:custGeom>
            <a:gradFill rotWithShape="1">
              <a:gsLst>
                <a:gs pos="0">
                  <a:srgbClr val="003297">
                    <a:alpha val="0"/>
                  </a:srgbClr>
                </a:gs>
                <a:gs pos="100000">
                  <a:srgbClr val="003297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21019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92262" y="2607267"/>
            <a:ext cx="9913650" cy="5994919"/>
            <a:chOff x="0" y="0"/>
            <a:chExt cx="2611002" cy="157890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611002" cy="1578909"/>
            </a:xfrm>
            <a:custGeom>
              <a:avLst/>
              <a:gdLst/>
              <a:ahLst/>
              <a:cxnLst/>
              <a:rect l="l" t="t" r="r" b="b"/>
              <a:pathLst>
                <a:path w="2611002" h="1578909">
                  <a:moveTo>
                    <a:pt x="18742" y="0"/>
                  </a:moveTo>
                  <a:lnTo>
                    <a:pt x="2592260" y="0"/>
                  </a:lnTo>
                  <a:cubicBezTo>
                    <a:pt x="2597231" y="0"/>
                    <a:pt x="2601998" y="1975"/>
                    <a:pt x="2605513" y="5490"/>
                  </a:cubicBezTo>
                  <a:cubicBezTo>
                    <a:pt x="2609028" y="9004"/>
                    <a:pt x="2611002" y="13772"/>
                    <a:pt x="2611002" y="18742"/>
                  </a:cubicBezTo>
                  <a:lnTo>
                    <a:pt x="2611002" y="1560166"/>
                  </a:lnTo>
                  <a:cubicBezTo>
                    <a:pt x="2611002" y="1565137"/>
                    <a:pt x="2609028" y="1569904"/>
                    <a:pt x="2605513" y="1573419"/>
                  </a:cubicBezTo>
                  <a:cubicBezTo>
                    <a:pt x="2601998" y="1576934"/>
                    <a:pt x="2597231" y="1578909"/>
                    <a:pt x="2592260" y="1578909"/>
                  </a:cubicBezTo>
                  <a:lnTo>
                    <a:pt x="18742" y="1578909"/>
                  </a:lnTo>
                  <a:cubicBezTo>
                    <a:pt x="13772" y="1578909"/>
                    <a:pt x="9004" y="1576934"/>
                    <a:pt x="5490" y="1573419"/>
                  </a:cubicBezTo>
                  <a:cubicBezTo>
                    <a:pt x="1975" y="1569904"/>
                    <a:pt x="0" y="1565137"/>
                    <a:pt x="0" y="1560166"/>
                  </a:cubicBezTo>
                  <a:lnTo>
                    <a:pt x="0" y="18742"/>
                  </a:lnTo>
                  <a:cubicBezTo>
                    <a:pt x="0" y="13772"/>
                    <a:pt x="1975" y="9004"/>
                    <a:pt x="5490" y="5490"/>
                  </a:cubicBezTo>
                  <a:cubicBezTo>
                    <a:pt x="9004" y="1975"/>
                    <a:pt x="13772" y="0"/>
                    <a:pt x="1874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297">
                    <a:alpha val="0"/>
                  </a:srgbClr>
                </a:gs>
                <a:gs pos="100000">
                  <a:srgbClr val="098DED">
                    <a:alpha val="100000"/>
                  </a:srgbClr>
                </a:gs>
              </a:gsLst>
              <a:lin ang="0"/>
            </a:gradFill>
            <a:ln w="38100" cap="rnd">
              <a:gradFill>
                <a:gsLst>
                  <a:gs pos="0">
                    <a:srgbClr val="42A9F4">
                      <a:alpha val="100000"/>
                    </a:srgbClr>
                  </a:gs>
                  <a:gs pos="100000">
                    <a:srgbClr val="003297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2611002" cy="15789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4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1614645" y="2607267"/>
            <a:ext cx="6438460" cy="6333835"/>
          </a:xfrm>
          <a:custGeom>
            <a:avLst/>
            <a:gdLst/>
            <a:ahLst/>
            <a:cxnLst/>
            <a:rect l="l" t="t" r="r" b="b"/>
            <a:pathLst>
              <a:path w="6438460" h="6333835">
                <a:moveTo>
                  <a:pt x="0" y="0"/>
                </a:moveTo>
                <a:lnTo>
                  <a:pt x="6438460" y="0"/>
                </a:lnTo>
                <a:lnTo>
                  <a:pt x="6438460" y="6333835"/>
                </a:lnTo>
                <a:lnTo>
                  <a:pt x="0" y="63338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807602" y="986229"/>
            <a:ext cx="14778921" cy="633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00"/>
              </a:lnSpc>
            </a:pPr>
            <a:r>
              <a:rPr lang="en-US" sz="4700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DATA PREPROCESSING (COMMON FOR ALL MODELS)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60752" y="3207774"/>
            <a:ext cx="9345159" cy="4740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6" lvl="1" indent="-269878" algn="l">
              <a:lnSpc>
                <a:spcPts val="250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Face detection and cropping</a:t>
            </a:r>
          </a:p>
          <a:p>
            <a:pPr algn="l">
              <a:lnSpc>
                <a:spcPts val="2500"/>
              </a:lnSpc>
            </a:pPr>
            <a:endParaRPr lang="en-US" sz="2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539756" lvl="1" indent="-269878" algn="l">
              <a:lnSpc>
                <a:spcPts val="250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Image normalization to [0,1]</a:t>
            </a:r>
          </a:p>
          <a:p>
            <a:pPr algn="l">
              <a:lnSpc>
                <a:spcPts val="2500"/>
              </a:lnSpc>
            </a:pPr>
            <a:endParaRPr lang="en-US" sz="2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539756" lvl="1" indent="-269878" algn="l">
              <a:lnSpc>
                <a:spcPts val="250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Image resizing:</a:t>
            </a:r>
          </a:p>
          <a:p>
            <a:pPr algn="l">
              <a:lnSpc>
                <a:spcPts val="2500"/>
              </a:lnSpc>
            </a:pPr>
            <a:endParaRPr lang="en-US" sz="2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l">
              <a:lnSpc>
                <a:spcPts val="2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               CNN → 48 × 48</a:t>
            </a:r>
          </a:p>
          <a:p>
            <a:pPr algn="l">
              <a:lnSpc>
                <a:spcPts val="2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               ResNet50 → 224 × 224</a:t>
            </a:r>
          </a:p>
          <a:p>
            <a:pPr algn="l">
              <a:lnSpc>
                <a:spcPts val="2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               YOLOv11m-cls → 640 × 640</a:t>
            </a:r>
          </a:p>
          <a:p>
            <a:pPr algn="l">
              <a:lnSpc>
                <a:spcPts val="2500"/>
              </a:lnSpc>
            </a:pPr>
            <a:endParaRPr lang="en-US" sz="2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539756" lvl="1" indent="-269878" algn="l">
              <a:lnSpc>
                <a:spcPts val="250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 augmentation:</a:t>
            </a:r>
          </a:p>
          <a:p>
            <a:pPr algn="l">
              <a:lnSpc>
                <a:spcPts val="2500"/>
              </a:lnSpc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               Rotation</a:t>
            </a:r>
          </a:p>
          <a:p>
            <a:pPr algn="l">
              <a:lnSpc>
                <a:spcPts val="2500"/>
              </a:lnSpc>
              <a:spcBef>
                <a:spcPct val="0"/>
              </a:spcBef>
            </a:pPr>
            <a:r>
              <a:rPr lang="en-US" sz="2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               Scal</a:t>
            </a:r>
            <a:r>
              <a:rPr lang="en-US" sz="2500" u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ing</a:t>
            </a:r>
          </a:p>
          <a:p>
            <a:pPr algn="l">
              <a:lnSpc>
                <a:spcPts val="2500"/>
              </a:lnSpc>
              <a:spcBef>
                <a:spcPct val="0"/>
              </a:spcBef>
            </a:pPr>
            <a:r>
              <a:rPr lang="en-US" sz="2500" u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               Flipping</a:t>
            </a:r>
          </a:p>
          <a:p>
            <a:pPr algn="l">
              <a:lnSpc>
                <a:spcPts val="2500"/>
              </a:lnSpc>
              <a:spcBef>
                <a:spcPct val="0"/>
              </a:spcBef>
            </a:pPr>
            <a:endParaRPr lang="en-US" sz="25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0" y="-297644"/>
            <a:ext cx="18471568" cy="7836192"/>
            <a:chOff x="0" y="0"/>
            <a:chExt cx="4864940" cy="206385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64940" cy="2063853"/>
            </a:xfrm>
            <a:custGeom>
              <a:avLst/>
              <a:gdLst/>
              <a:ahLst/>
              <a:cxnLst/>
              <a:rect l="l" t="t" r="r" b="b"/>
              <a:pathLst>
                <a:path w="4864940" h="2063853">
                  <a:moveTo>
                    <a:pt x="0" y="0"/>
                  </a:moveTo>
                  <a:lnTo>
                    <a:pt x="4864940" y="0"/>
                  </a:lnTo>
                  <a:lnTo>
                    <a:pt x="4864940" y="2063853"/>
                  </a:lnTo>
                  <a:lnTo>
                    <a:pt x="0" y="2063853"/>
                  </a:lnTo>
                  <a:close/>
                </a:path>
              </a:pathLst>
            </a:custGeom>
            <a:gradFill rotWithShape="1">
              <a:gsLst>
                <a:gs pos="0">
                  <a:srgbClr val="003297">
                    <a:alpha val="0"/>
                  </a:srgbClr>
                </a:gs>
                <a:gs pos="100000">
                  <a:srgbClr val="003297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64940" cy="21019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18269" y="2311291"/>
            <a:ext cx="16235031" cy="7479645"/>
            <a:chOff x="0" y="0"/>
            <a:chExt cx="4275893" cy="19699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275893" cy="1969948"/>
            </a:xfrm>
            <a:custGeom>
              <a:avLst/>
              <a:gdLst/>
              <a:ahLst/>
              <a:cxnLst/>
              <a:rect l="l" t="t" r="r" b="b"/>
              <a:pathLst>
                <a:path w="4275893" h="1969948">
                  <a:moveTo>
                    <a:pt x="11445" y="0"/>
                  </a:moveTo>
                  <a:lnTo>
                    <a:pt x="4264448" y="0"/>
                  </a:lnTo>
                  <a:cubicBezTo>
                    <a:pt x="4267483" y="0"/>
                    <a:pt x="4270394" y="1206"/>
                    <a:pt x="4272541" y="3352"/>
                  </a:cubicBezTo>
                  <a:cubicBezTo>
                    <a:pt x="4274687" y="5498"/>
                    <a:pt x="4275893" y="8409"/>
                    <a:pt x="4275893" y="11445"/>
                  </a:cubicBezTo>
                  <a:lnTo>
                    <a:pt x="4275893" y="1958503"/>
                  </a:lnTo>
                  <a:cubicBezTo>
                    <a:pt x="4275893" y="1964824"/>
                    <a:pt x="4270769" y="1969948"/>
                    <a:pt x="4264448" y="1969948"/>
                  </a:cubicBezTo>
                  <a:lnTo>
                    <a:pt x="11445" y="1969948"/>
                  </a:lnTo>
                  <a:cubicBezTo>
                    <a:pt x="8409" y="1969948"/>
                    <a:pt x="5498" y="1968742"/>
                    <a:pt x="3352" y="1966595"/>
                  </a:cubicBezTo>
                  <a:cubicBezTo>
                    <a:pt x="1206" y="1964449"/>
                    <a:pt x="0" y="1961538"/>
                    <a:pt x="0" y="1958503"/>
                  </a:cubicBezTo>
                  <a:lnTo>
                    <a:pt x="0" y="11445"/>
                  </a:lnTo>
                  <a:cubicBezTo>
                    <a:pt x="0" y="8409"/>
                    <a:pt x="1206" y="5498"/>
                    <a:pt x="3352" y="3352"/>
                  </a:cubicBezTo>
                  <a:cubicBezTo>
                    <a:pt x="5498" y="1206"/>
                    <a:pt x="8409" y="0"/>
                    <a:pt x="1144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297">
                    <a:alpha val="0"/>
                  </a:srgbClr>
                </a:gs>
                <a:gs pos="100000">
                  <a:srgbClr val="098DED">
                    <a:alpha val="100000"/>
                  </a:srgbClr>
                </a:gs>
              </a:gsLst>
              <a:lin ang="0"/>
            </a:gradFill>
            <a:ln w="38100" cap="rnd">
              <a:gradFill>
                <a:gsLst>
                  <a:gs pos="0">
                    <a:srgbClr val="42A9F4">
                      <a:alpha val="100000"/>
                    </a:srgbClr>
                  </a:gs>
                  <a:gs pos="100000">
                    <a:srgbClr val="003297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4275893" cy="19699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4"/>
                </a:lnSpc>
              </a:pPr>
              <a:endParaRPr/>
            </a:p>
            <a:p>
              <a:pPr algn="ctr">
                <a:lnSpc>
                  <a:spcPts val="2394"/>
                </a:lnSpc>
              </a:pPr>
              <a:endParaRPr/>
            </a:p>
            <a:p>
              <a:pPr algn="ctr">
                <a:lnSpc>
                  <a:spcPts val="2394"/>
                </a:lnSpc>
              </a:pPr>
              <a:endParaRPr/>
            </a:p>
          </p:txBody>
        </p:sp>
      </p:grp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2651295" y="3620452"/>
          <a:ext cx="6985819" cy="4162425"/>
        </p:xfrm>
        <a:graphic>
          <a:graphicData uri="http://schemas.openxmlformats.org/drawingml/2006/table">
            <a:tbl>
              <a:tblPr/>
              <a:tblGrid>
                <a:gridCol w="34650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07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76655"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 b="1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Model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 b="1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Accuracy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8590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CNN Based model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~85%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8590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ResNet50 model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~95%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8590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YOLOv11m-cls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~92%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9"/>
          <p:cNvSpPr txBox="1"/>
          <p:nvPr/>
        </p:nvSpPr>
        <p:spPr>
          <a:xfrm>
            <a:off x="630297" y="986229"/>
            <a:ext cx="15093846" cy="633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00"/>
              </a:lnSpc>
            </a:pPr>
            <a:r>
              <a:rPr lang="en-US" sz="4700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MODEL PERFORMANCE COMPARISON</a:t>
            </a:r>
          </a:p>
        </p:txBody>
      </p: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9637113" y="3620452"/>
          <a:ext cx="3539680" cy="1104900"/>
        </p:xfrm>
        <a:graphic>
          <a:graphicData uri="http://schemas.openxmlformats.org/drawingml/2006/table">
            <a:tbl>
              <a:tblPr/>
              <a:tblGrid>
                <a:gridCol w="3539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04900"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 b="1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Precision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9637113" y="5677852"/>
          <a:ext cx="3539680" cy="1057275"/>
        </p:xfrm>
        <a:graphic>
          <a:graphicData uri="http://schemas.openxmlformats.org/drawingml/2006/table">
            <a:tbl>
              <a:tblPr/>
              <a:tblGrid>
                <a:gridCol w="3539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057275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~0.94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12"/>
          <p:cNvGraphicFramePr>
            <a:graphicFrameLocks noGrp="1"/>
          </p:cNvGraphicFramePr>
          <p:nvPr/>
        </p:nvGraphicFramePr>
        <p:xfrm>
          <a:off x="9637113" y="6735127"/>
          <a:ext cx="3539680" cy="1057275"/>
        </p:xfrm>
        <a:graphic>
          <a:graphicData uri="http://schemas.openxmlformats.org/drawingml/2006/table">
            <a:tbl>
              <a:tblPr/>
              <a:tblGrid>
                <a:gridCol w="3539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057275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~0.92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3"/>
          <p:cNvGraphicFramePr>
            <a:graphicFrameLocks noGrp="1"/>
          </p:cNvGraphicFramePr>
          <p:nvPr/>
        </p:nvGraphicFramePr>
        <p:xfrm>
          <a:off x="13176794" y="3620452"/>
          <a:ext cx="3539680" cy="1104900"/>
        </p:xfrm>
        <a:graphic>
          <a:graphicData uri="http://schemas.openxmlformats.org/drawingml/2006/table">
            <a:tbl>
              <a:tblPr/>
              <a:tblGrid>
                <a:gridCol w="3539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04900"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 b="1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Recall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Table 14"/>
          <p:cNvGraphicFramePr>
            <a:graphicFrameLocks noGrp="1"/>
          </p:cNvGraphicFramePr>
          <p:nvPr/>
        </p:nvGraphicFramePr>
        <p:xfrm>
          <a:off x="13176794" y="4677727"/>
          <a:ext cx="3539680" cy="1057275"/>
        </p:xfrm>
        <a:graphic>
          <a:graphicData uri="http://schemas.openxmlformats.org/drawingml/2006/table">
            <a:tbl>
              <a:tblPr/>
              <a:tblGrid>
                <a:gridCol w="3539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057275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~0.84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Table 15"/>
          <p:cNvGraphicFramePr>
            <a:graphicFrameLocks noGrp="1"/>
          </p:cNvGraphicFramePr>
          <p:nvPr/>
        </p:nvGraphicFramePr>
        <p:xfrm>
          <a:off x="13176794" y="5735002"/>
          <a:ext cx="3539680" cy="1057275"/>
        </p:xfrm>
        <a:graphic>
          <a:graphicData uri="http://schemas.openxmlformats.org/drawingml/2006/table">
            <a:tbl>
              <a:tblPr/>
              <a:tblGrid>
                <a:gridCol w="3539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057275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~0.94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Table 16"/>
          <p:cNvGraphicFramePr>
            <a:graphicFrameLocks noGrp="1"/>
          </p:cNvGraphicFramePr>
          <p:nvPr/>
        </p:nvGraphicFramePr>
        <p:xfrm>
          <a:off x="13176794" y="6735127"/>
          <a:ext cx="3539680" cy="1057275"/>
        </p:xfrm>
        <a:graphic>
          <a:graphicData uri="http://schemas.openxmlformats.org/drawingml/2006/table">
            <a:tbl>
              <a:tblPr/>
              <a:tblGrid>
                <a:gridCol w="3539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057275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~0.91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Table 17"/>
          <p:cNvGraphicFramePr>
            <a:graphicFrameLocks noGrp="1"/>
          </p:cNvGraphicFramePr>
          <p:nvPr/>
        </p:nvGraphicFramePr>
        <p:xfrm>
          <a:off x="9637113" y="4725352"/>
          <a:ext cx="3539680" cy="1057275"/>
        </p:xfrm>
        <a:graphic>
          <a:graphicData uri="http://schemas.openxmlformats.org/drawingml/2006/table">
            <a:tbl>
              <a:tblPr/>
              <a:tblGrid>
                <a:gridCol w="3539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057275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0.83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0" y="0"/>
            <a:ext cx="18288000" cy="7836192"/>
            <a:chOff x="0" y="0"/>
            <a:chExt cx="4816593" cy="206385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063853"/>
            </a:xfrm>
            <a:custGeom>
              <a:avLst/>
              <a:gdLst/>
              <a:ahLst/>
              <a:cxnLst/>
              <a:rect l="l" t="t" r="r" b="b"/>
              <a:pathLst>
                <a:path w="4816592" h="2063853">
                  <a:moveTo>
                    <a:pt x="0" y="0"/>
                  </a:moveTo>
                  <a:lnTo>
                    <a:pt x="4816592" y="0"/>
                  </a:lnTo>
                  <a:lnTo>
                    <a:pt x="4816592" y="2063853"/>
                  </a:lnTo>
                  <a:lnTo>
                    <a:pt x="0" y="2063853"/>
                  </a:lnTo>
                  <a:close/>
                </a:path>
              </a:pathLst>
            </a:custGeom>
            <a:gradFill rotWithShape="1">
              <a:gsLst>
                <a:gs pos="0">
                  <a:srgbClr val="003297">
                    <a:alpha val="0"/>
                  </a:srgbClr>
                </a:gs>
                <a:gs pos="100000">
                  <a:srgbClr val="003297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21019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2977587"/>
            <a:ext cx="11496927" cy="5994919"/>
            <a:chOff x="0" y="0"/>
            <a:chExt cx="3027997" cy="157890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027997" cy="1578909"/>
            </a:xfrm>
            <a:custGeom>
              <a:avLst/>
              <a:gdLst/>
              <a:ahLst/>
              <a:cxnLst/>
              <a:rect l="l" t="t" r="r" b="b"/>
              <a:pathLst>
                <a:path w="3027997" h="1578909">
                  <a:moveTo>
                    <a:pt x="16161" y="0"/>
                  </a:moveTo>
                  <a:lnTo>
                    <a:pt x="3011836" y="0"/>
                  </a:lnTo>
                  <a:cubicBezTo>
                    <a:pt x="3020762" y="0"/>
                    <a:pt x="3027997" y="7236"/>
                    <a:pt x="3027997" y="16161"/>
                  </a:cubicBezTo>
                  <a:lnTo>
                    <a:pt x="3027997" y="1562747"/>
                  </a:lnTo>
                  <a:cubicBezTo>
                    <a:pt x="3027997" y="1567034"/>
                    <a:pt x="3026294" y="1571144"/>
                    <a:pt x="3023264" y="1574175"/>
                  </a:cubicBezTo>
                  <a:cubicBezTo>
                    <a:pt x="3020233" y="1577206"/>
                    <a:pt x="3016122" y="1578909"/>
                    <a:pt x="3011836" y="1578909"/>
                  </a:cubicBezTo>
                  <a:lnTo>
                    <a:pt x="16161" y="1578909"/>
                  </a:lnTo>
                  <a:cubicBezTo>
                    <a:pt x="11875" y="1578909"/>
                    <a:pt x="7764" y="1577206"/>
                    <a:pt x="4734" y="1574175"/>
                  </a:cubicBezTo>
                  <a:cubicBezTo>
                    <a:pt x="1703" y="1571144"/>
                    <a:pt x="0" y="1567034"/>
                    <a:pt x="0" y="1562747"/>
                  </a:cubicBezTo>
                  <a:lnTo>
                    <a:pt x="0" y="16161"/>
                  </a:lnTo>
                  <a:cubicBezTo>
                    <a:pt x="0" y="11875"/>
                    <a:pt x="1703" y="7764"/>
                    <a:pt x="4734" y="4734"/>
                  </a:cubicBezTo>
                  <a:cubicBezTo>
                    <a:pt x="7764" y="1703"/>
                    <a:pt x="11875" y="0"/>
                    <a:pt x="1616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297">
                    <a:alpha val="0"/>
                  </a:srgbClr>
                </a:gs>
                <a:gs pos="100000">
                  <a:srgbClr val="098DED">
                    <a:alpha val="100000"/>
                  </a:srgbClr>
                </a:gs>
              </a:gsLst>
              <a:lin ang="0"/>
            </a:gradFill>
            <a:ln w="38100" cap="rnd">
              <a:gradFill>
                <a:gsLst>
                  <a:gs pos="0">
                    <a:srgbClr val="42A9F4">
                      <a:alpha val="100000"/>
                    </a:srgbClr>
                  </a:gs>
                  <a:gs pos="100000">
                    <a:srgbClr val="003297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3027997" cy="15789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4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807602" y="898936"/>
            <a:ext cx="14943845" cy="1814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00"/>
              </a:lnSpc>
            </a:pPr>
            <a:r>
              <a:rPr lang="en-US" sz="4700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   BEST PERFORMING MODEL</a:t>
            </a:r>
          </a:p>
          <a:p>
            <a:pPr algn="l">
              <a:lnSpc>
                <a:spcPts val="4700"/>
              </a:lnSpc>
            </a:pPr>
            <a:endParaRPr lang="en-US" sz="4700" b="1">
              <a:solidFill>
                <a:srgbClr val="FFFFFF"/>
              </a:solidFill>
              <a:latin typeface="Roboto Bold"/>
              <a:ea typeface="Roboto Bold"/>
              <a:cs typeface="Roboto Bold"/>
              <a:sym typeface="Roboto Bold"/>
            </a:endParaRPr>
          </a:p>
          <a:p>
            <a:pPr algn="l">
              <a:lnSpc>
                <a:spcPts val="4700"/>
              </a:lnSpc>
            </a:pPr>
            <a:endParaRPr lang="en-US" sz="4700" b="1">
              <a:solidFill>
                <a:srgbClr val="FFFFFF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890213" y="3621736"/>
            <a:ext cx="9345159" cy="4782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99"/>
              </a:lnSpc>
            </a:pPr>
            <a:r>
              <a:rPr lang="en-US" sz="37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Reasons:</a:t>
            </a:r>
          </a:p>
          <a:p>
            <a:pPr algn="l">
              <a:lnSpc>
                <a:spcPts val="3799"/>
              </a:lnSpc>
            </a:pPr>
            <a:endParaRPr lang="en-US" sz="3799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l">
              <a:lnSpc>
                <a:spcPts val="3799"/>
              </a:lnSpc>
            </a:pPr>
            <a:r>
              <a:rPr lang="en-US" sz="37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          Strong feature extraction</a:t>
            </a:r>
          </a:p>
          <a:p>
            <a:pPr algn="l">
              <a:lnSpc>
                <a:spcPts val="3799"/>
              </a:lnSpc>
            </a:pPr>
            <a:endParaRPr lang="en-US" sz="3799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l">
              <a:lnSpc>
                <a:spcPts val="3799"/>
              </a:lnSpc>
            </a:pPr>
            <a:r>
              <a:rPr lang="en-US" sz="37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          Transfer learning from ImageNet</a:t>
            </a:r>
          </a:p>
          <a:p>
            <a:pPr algn="l">
              <a:lnSpc>
                <a:spcPts val="3799"/>
              </a:lnSpc>
            </a:pPr>
            <a:endParaRPr lang="en-US" sz="3799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l">
              <a:lnSpc>
                <a:spcPts val="3799"/>
              </a:lnSpc>
            </a:pPr>
            <a:r>
              <a:rPr lang="en-US" sz="37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          Effective data augmentation</a:t>
            </a:r>
          </a:p>
          <a:p>
            <a:pPr algn="l">
              <a:lnSpc>
                <a:spcPts val="3799"/>
              </a:lnSpc>
            </a:pPr>
            <a:endParaRPr lang="en-US" sz="3799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l">
              <a:lnSpc>
                <a:spcPts val="3799"/>
              </a:lnSpc>
              <a:spcBef>
                <a:spcPct val="0"/>
              </a:spcBef>
            </a:pPr>
            <a:r>
              <a:rPr lang="en-US" sz="37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          Balanced</a:t>
            </a:r>
            <a:r>
              <a:rPr lang="en-US" sz="3799" u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bias–variance trade-off</a:t>
            </a:r>
          </a:p>
          <a:p>
            <a:pPr algn="l">
              <a:lnSpc>
                <a:spcPts val="3799"/>
              </a:lnSpc>
              <a:spcBef>
                <a:spcPct val="0"/>
              </a:spcBef>
            </a:pPr>
            <a:endParaRPr lang="en-US" sz="3799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-1325257" y="2071208"/>
            <a:ext cx="18288000" cy="484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99"/>
              </a:lnSpc>
              <a:spcBef>
                <a:spcPct val="0"/>
              </a:spcBef>
            </a:pPr>
            <a:r>
              <a:rPr lang="en-US" sz="36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ResNet50-based model achieved the highest accuracy (~95%)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-349174" y="-503500"/>
            <a:ext cx="18899055" cy="7836192"/>
            <a:chOff x="0" y="0"/>
            <a:chExt cx="4977529" cy="206385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77529" cy="2063853"/>
            </a:xfrm>
            <a:custGeom>
              <a:avLst/>
              <a:gdLst/>
              <a:ahLst/>
              <a:cxnLst/>
              <a:rect l="l" t="t" r="r" b="b"/>
              <a:pathLst>
                <a:path w="4977529" h="2063853">
                  <a:moveTo>
                    <a:pt x="0" y="0"/>
                  </a:moveTo>
                  <a:lnTo>
                    <a:pt x="4977529" y="0"/>
                  </a:lnTo>
                  <a:lnTo>
                    <a:pt x="4977529" y="2063853"/>
                  </a:lnTo>
                  <a:lnTo>
                    <a:pt x="0" y="2063853"/>
                  </a:lnTo>
                  <a:close/>
                </a:path>
              </a:pathLst>
            </a:custGeom>
            <a:gradFill rotWithShape="1">
              <a:gsLst>
                <a:gs pos="0">
                  <a:srgbClr val="003297">
                    <a:alpha val="0"/>
                  </a:srgbClr>
                </a:gs>
                <a:gs pos="100000">
                  <a:srgbClr val="003297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977529" cy="21019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84989" y="1989919"/>
            <a:ext cx="15774311" cy="7767704"/>
            <a:chOff x="0" y="0"/>
            <a:chExt cx="4154551" cy="204581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154551" cy="2045815"/>
            </a:xfrm>
            <a:custGeom>
              <a:avLst/>
              <a:gdLst/>
              <a:ahLst/>
              <a:cxnLst/>
              <a:rect l="l" t="t" r="r" b="b"/>
              <a:pathLst>
                <a:path w="4154551" h="2045815">
                  <a:moveTo>
                    <a:pt x="11779" y="0"/>
                  </a:moveTo>
                  <a:lnTo>
                    <a:pt x="4142772" y="0"/>
                  </a:lnTo>
                  <a:cubicBezTo>
                    <a:pt x="4149277" y="0"/>
                    <a:pt x="4154551" y="5274"/>
                    <a:pt x="4154551" y="11779"/>
                  </a:cubicBezTo>
                  <a:lnTo>
                    <a:pt x="4154551" y="2034036"/>
                  </a:lnTo>
                  <a:cubicBezTo>
                    <a:pt x="4154551" y="2037160"/>
                    <a:pt x="4153310" y="2040156"/>
                    <a:pt x="4151101" y="2042365"/>
                  </a:cubicBezTo>
                  <a:cubicBezTo>
                    <a:pt x="4148892" y="2044574"/>
                    <a:pt x="4145896" y="2045815"/>
                    <a:pt x="4142772" y="2045815"/>
                  </a:cubicBezTo>
                  <a:lnTo>
                    <a:pt x="11779" y="2045815"/>
                  </a:lnTo>
                  <a:cubicBezTo>
                    <a:pt x="8655" y="2045815"/>
                    <a:pt x="5659" y="2044574"/>
                    <a:pt x="3450" y="2042365"/>
                  </a:cubicBezTo>
                  <a:cubicBezTo>
                    <a:pt x="1241" y="2040156"/>
                    <a:pt x="0" y="2037160"/>
                    <a:pt x="0" y="2034036"/>
                  </a:cubicBezTo>
                  <a:lnTo>
                    <a:pt x="0" y="11779"/>
                  </a:lnTo>
                  <a:cubicBezTo>
                    <a:pt x="0" y="8655"/>
                    <a:pt x="1241" y="5659"/>
                    <a:pt x="3450" y="3450"/>
                  </a:cubicBezTo>
                  <a:cubicBezTo>
                    <a:pt x="5659" y="1241"/>
                    <a:pt x="8655" y="0"/>
                    <a:pt x="1177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297">
                    <a:alpha val="0"/>
                  </a:srgbClr>
                </a:gs>
                <a:gs pos="100000">
                  <a:srgbClr val="098DED">
                    <a:alpha val="100000"/>
                  </a:srgbClr>
                </a:gs>
              </a:gsLst>
              <a:lin ang="0"/>
            </a:gradFill>
            <a:ln w="38100" cap="rnd">
              <a:gradFill>
                <a:gsLst>
                  <a:gs pos="0">
                    <a:srgbClr val="42A9F4">
                      <a:alpha val="100000"/>
                    </a:srgbClr>
                  </a:gs>
                  <a:gs pos="100000">
                    <a:srgbClr val="003297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4154551" cy="2045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4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464056" y="1104900"/>
            <a:ext cx="14943845" cy="633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00"/>
              </a:lnSpc>
            </a:pPr>
            <a:r>
              <a:rPr lang="en-US" sz="4700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 CONCLUSION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183389" y="2579760"/>
            <a:ext cx="9345159" cy="6774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293" lvl="1" indent="-334646" algn="l">
              <a:lnSpc>
                <a:spcPts val="3100"/>
              </a:lnSpc>
              <a:buFont typeface="Arial"/>
              <a:buChar char="•"/>
            </a:pPr>
            <a:r>
              <a:rPr lang="en-US" sz="3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Implemented three FER models for comparison</a:t>
            </a:r>
          </a:p>
          <a:p>
            <a:pPr algn="l">
              <a:lnSpc>
                <a:spcPts val="3100"/>
              </a:lnSpc>
            </a:pPr>
            <a:endParaRPr lang="en-US" sz="3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669293" lvl="1" indent="-334646" algn="l">
              <a:lnSpc>
                <a:spcPts val="3100"/>
              </a:lnSpc>
              <a:buFont typeface="Arial"/>
              <a:buChar char="•"/>
            </a:pPr>
            <a:r>
              <a:rPr lang="en-US" sz="3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Transfer learning models outperformed basic CNN</a:t>
            </a:r>
          </a:p>
          <a:p>
            <a:pPr algn="l">
              <a:lnSpc>
                <a:spcPts val="3100"/>
              </a:lnSpc>
            </a:pPr>
            <a:endParaRPr lang="en-US" sz="3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669293" lvl="1" indent="-334646" algn="l">
              <a:lnSpc>
                <a:spcPts val="3100"/>
              </a:lnSpc>
              <a:buFont typeface="Arial"/>
              <a:buChar char="•"/>
            </a:pPr>
            <a:r>
              <a:rPr lang="en-US" sz="3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ResNet50 model achieved the best performance</a:t>
            </a:r>
          </a:p>
          <a:p>
            <a:pPr algn="l">
              <a:lnSpc>
                <a:spcPts val="3100"/>
              </a:lnSpc>
            </a:pPr>
            <a:endParaRPr lang="en-US" sz="3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669293" lvl="1" indent="-334646" algn="l">
              <a:lnSpc>
                <a:spcPts val="3100"/>
              </a:lnSpc>
              <a:buFont typeface="Arial"/>
              <a:buChar char="•"/>
            </a:pPr>
            <a:r>
              <a:rPr lang="en-US" sz="3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YOLO model showed strong real-time potential</a:t>
            </a:r>
          </a:p>
          <a:p>
            <a:pPr algn="l">
              <a:lnSpc>
                <a:spcPts val="3100"/>
              </a:lnSpc>
            </a:pPr>
            <a:endParaRPr lang="en-US" sz="3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669293" lvl="1" indent="-334646" algn="l">
              <a:lnSpc>
                <a:spcPts val="3100"/>
              </a:lnSpc>
              <a:spcBef>
                <a:spcPct val="0"/>
              </a:spcBef>
              <a:buFont typeface="Arial"/>
              <a:buChar char="•"/>
            </a:pPr>
            <a:r>
              <a:rPr lang="en-US" sz="3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Proje</a:t>
            </a:r>
            <a:r>
              <a:rPr lang="en-US" sz="3100" u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ct demonstrates importance of:</a:t>
            </a:r>
          </a:p>
          <a:p>
            <a:pPr algn="l">
              <a:lnSpc>
                <a:spcPts val="3100"/>
              </a:lnSpc>
              <a:spcBef>
                <a:spcPct val="0"/>
              </a:spcBef>
            </a:pPr>
            <a:endParaRPr lang="en-US" sz="31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>
              <a:lnSpc>
                <a:spcPts val="3100"/>
              </a:lnSpc>
              <a:spcBef>
                <a:spcPct val="0"/>
              </a:spcBef>
            </a:pPr>
            <a:r>
              <a:rPr lang="en-US" sz="3100" u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                Model selection</a:t>
            </a:r>
          </a:p>
          <a:p>
            <a:pPr algn="l">
              <a:lnSpc>
                <a:spcPts val="3100"/>
              </a:lnSpc>
              <a:spcBef>
                <a:spcPct val="0"/>
              </a:spcBef>
            </a:pPr>
            <a:endParaRPr lang="en-US" sz="31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>
              <a:lnSpc>
                <a:spcPts val="3100"/>
              </a:lnSpc>
              <a:spcBef>
                <a:spcPct val="0"/>
              </a:spcBef>
            </a:pPr>
            <a:r>
              <a:rPr lang="en-US" sz="3100" u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                Dataset handling</a:t>
            </a:r>
          </a:p>
          <a:p>
            <a:pPr algn="l">
              <a:lnSpc>
                <a:spcPts val="3100"/>
              </a:lnSpc>
              <a:spcBef>
                <a:spcPct val="0"/>
              </a:spcBef>
            </a:pPr>
            <a:endParaRPr lang="en-US" sz="31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l">
              <a:lnSpc>
                <a:spcPts val="3100"/>
              </a:lnSpc>
              <a:spcBef>
                <a:spcPct val="0"/>
              </a:spcBef>
            </a:pPr>
            <a:r>
              <a:rPr lang="en-US" sz="3100" u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                Optimization techniques</a:t>
            </a:r>
          </a:p>
          <a:p>
            <a:pPr algn="l">
              <a:lnSpc>
                <a:spcPts val="3799"/>
              </a:lnSpc>
              <a:spcBef>
                <a:spcPct val="0"/>
              </a:spcBef>
            </a:pPr>
            <a:endParaRPr lang="en-US" sz="31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hlinkClick r:id="rId2" tooltip="https://drive.google.com/file/d/1EB9ScRsX5_gHHN53N_BQdS9y_u5XJSwT/view?usp=sharing"/>
          </p:cNvPr>
          <p:cNvSpPr/>
          <p:nvPr/>
        </p:nvSpPr>
        <p:spPr>
          <a:xfrm>
            <a:off x="-285395" y="-183528"/>
            <a:ext cx="20014291" cy="11007860"/>
          </a:xfrm>
          <a:custGeom>
            <a:avLst/>
            <a:gdLst/>
            <a:ahLst/>
            <a:cxnLst/>
            <a:rect l="l" t="t" r="r" b="b"/>
            <a:pathLst>
              <a:path w="20014291" h="11007860">
                <a:moveTo>
                  <a:pt x="0" y="0"/>
                </a:moveTo>
                <a:lnTo>
                  <a:pt x="20014291" y="0"/>
                </a:lnTo>
                <a:lnTo>
                  <a:pt x="20014291" y="11007861"/>
                </a:lnTo>
                <a:lnTo>
                  <a:pt x="0" y="110078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6000"/>
            </a:blip>
            <a:stretch>
              <a:fillRect t="-5713" r="-5713"/>
            </a:stretch>
          </a:blipFill>
        </p:spPr>
      </p:sp>
      <p:grpSp>
        <p:nvGrpSpPr>
          <p:cNvPr id="3" name="Group 3"/>
          <p:cNvGrpSpPr/>
          <p:nvPr/>
        </p:nvGrpSpPr>
        <p:grpSpPr>
          <a:xfrm rot="5400000">
            <a:off x="7191607" y="-809393"/>
            <a:ext cx="3904785" cy="18288000"/>
            <a:chOff x="0" y="0"/>
            <a:chExt cx="1028421" cy="481659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28421" cy="4816592"/>
            </a:xfrm>
            <a:custGeom>
              <a:avLst/>
              <a:gdLst/>
              <a:ahLst/>
              <a:cxnLst/>
              <a:rect l="l" t="t" r="r" b="b"/>
              <a:pathLst>
                <a:path w="1028421" h="4816592">
                  <a:moveTo>
                    <a:pt x="0" y="0"/>
                  </a:moveTo>
                  <a:lnTo>
                    <a:pt x="1028421" y="0"/>
                  </a:lnTo>
                  <a:lnTo>
                    <a:pt x="1028421" y="4816592"/>
                  </a:lnTo>
                  <a:lnTo>
                    <a:pt x="0" y="4816592"/>
                  </a:lnTo>
                  <a:close/>
                </a:path>
              </a:pathLst>
            </a:custGeom>
            <a:gradFill rotWithShape="1">
              <a:gsLst>
                <a:gs pos="0">
                  <a:srgbClr val="003297">
                    <a:alpha val="0"/>
                  </a:srgbClr>
                </a:gs>
                <a:gs pos="100000">
                  <a:srgbClr val="003297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028421" cy="485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811120" y="1519153"/>
            <a:ext cx="12458539" cy="1379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02"/>
              </a:lnSpc>
            </a:pPr>
            <a:r>
              <a:rPr lang="en-US" sz="10202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THANK YOU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492481" y="3491994"/>
            <a:ext cx="12458539" cy="570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9"/>
              </a:lnSpc>
            </a:pPr>
            <a:r>
              <a:rPr lang="en-US" sz="2199" b="1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Demo video :</a:t>
            </a:r>
          </a:p>
          <a:p>
            <a:pPr algn="ctr">
              <a:lnSpc>
                <a:spcPts val="2199"/>
              </a:lnSpc>
            </a:pPr>
            <a:r>
              <a:rPr lang="en-US" sz="2199" b="1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  <a:hlinkClick r:id="rId2"/>
              </a:rPr>
              <a:t> https://drive.google.com/file/d/1EB9ScRsX5_gHHN53N_BQdS9y_u5XJSwT/view?usp=sharing</a:t>
            </a:r>
            <a:endParaRPr lang="en-US" sz="2199" b="1" dirty="0">
              <a:solidFill>
                <a:srgbClr val="FFFFFF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502</Words>
  <Application>Microsoft Office PowerPoint</Application>
  <PresentationFormat>Custom</PresentationFormat>
  <Paragraphs>162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Raleway Bold</vt:lpstr>
      <vt:lpstr>Roboto</vt:lpstr>
      <vt:lpstr>Arial</vt:lpstr>
      <vt:lpstr>Calibri</vt:lpstr>
      <vt:lpstr>Roboto Bold</vt:lpstr>
      <vt:lpstr>Poppins</vt:lpstr>
      <vt:lpstr>Cardo Bold</vt:lpstr>
      <vt:lpstr>Poppins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Facial Recognition System Presentation</dc:title>
  <cp:lastModifiedBy>Anik Mondal</cp:lastModifiedBy>
  <cp:revision>3</cp:revision>
  <dcterms:created xsi:type="dcterms:W3CDTF">2006-08-16T00:00:00Z</dcterms:created>
  <dcterms:modified xsi:type="dcterms:W3CDTF">2025-12-13T18:09:47Z</dcterms:modified>
  <dc:identifier>DAG7UW3A2rA</dc:identifier>
</cp:coreProperties>
</file>